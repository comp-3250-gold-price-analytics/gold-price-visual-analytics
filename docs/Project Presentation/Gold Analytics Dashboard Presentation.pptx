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A4CF2D-FC7D-8BB2-5B1D-31F196921E0E}" v="6" dt="2026-03-30T01:12:22.932"/>
    <p1510:client id="{FBAE7A07-BC41-429E-9CFA-EFDBF82D4F8C}" v="13" dt="2026-03-30T02:36:41.467"/>
    <p1510:client id="{FDA10F93-5C78-EF5F-8562-F727B32F3116}" v="3" dt="2026-03-30T02:51:16.7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7907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Aakanksha: Hi everyone, we are Group 8. We decided to look at gold prices over the last ten years to see if it actually works as a 'safe haven' when the market gets crazy. It is a simple question with a really complex answer buried in thousands of rows of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Aakanksha: I am Aakanksha, the coordinator. I handled the data cleaning and the DAX logic. Abhishek was our research lead, and Brett built the actual dashboard you see today. For all of us, the big shift was moving away from just reading raw CSV files to actually building a tool that tells a story.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Abhishek: The main issue we found is that ten years of gold data is about 2,500 daily price points. If you look at that in Excel, it is just a wall of numbers. You can't easily see why prices dropped in 2022 or how fast they recovered after COVID. Static tables just don't give you the 'why' behind the numbers, and that is the gap we wanted to bridge.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Brett: Our solution was a Power BI dashboard that simplifies that noise. We used a 30 day moving average to smooth out the daily jumps so you can see the real trend. </a:t>
            </a:r>
          </a:p>
          <a:p>
            <a:r>
              <a:rPr lang="en-US"/>
              <a:t>We also built in year over year metrics so you can compare performance instantly.</a:t>
            </a:r>
          </a:p>
          <a:p>
            <a:endParaRPr lang="en-US"/>
          </a:p>
          <a:p>
            <a:r>
              <a:rPr lang="en-US" b="1"/>
              <a:t>Live Demo:</a:t>
            </a:r>
            <a:r>
              <a:rPr lang="en-US"/>
              <a:t> "I’ll show you real quick. If I click the 2020 slicer here, you see that massive spike during the pandemic. If I drill down into 2024, you can see how inflation started pushing us to new highs. The best part is the 'human in the loop' aspect: the dashboard does the math, but the analyst uses these filters to find the specific story they need.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Abhishek: So what did the data actually tell us? First, gold is incredibly sensitive to global news. You can see the clear 'safe haven' effect in 2020. But you can also see where it struggled, like when interest rates went up in 2022. Having these visual cues makes it way easier to predict how gold might react to future bank or geopolitical events.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Aakanksha: Looking ahead, we want to add a live data feed so this updates every minute instead of being a static set. We also want to compare gold against things like silver or the S&amp;P 500 to give even more context.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Aakanksha: Finally, these are our references. Thanks for listening! Any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B35"/>
        </a:solidFill>
        <a:effectLst/>
      </p:bgPr>
    </p:bg>
    <p:spTree>
      <p:nvGrpSpPr>
        <p:cNvPr id="1" name=""/>
        <p:cNvGrpSpPr/>
        <p:nvPr/>
      </p:nvGrpSpPr>
      <p:grpSpPr>
        <a:xfrm>
          <a:off x="0" y="0"/>
          <a:ext cx="0" cy="0"/>
          <a:chOff x="0" y="0"/>
          <a:chExt cx="0" cy="0"/>
        </a:xfrm>
      </p:grpSpPr>
      <p:sp>
        <p:nvSpPr>
          <p:cNvPr id="2" name="Shape 0"/>
          <p:cNvSpPr/>
          <p:nvPr/>
        </p:nvSpPr>
        <p:spPr>
          <a:xfrm>
            <a:off x="0" y="0"/>
            <a:ext cx="4297680" cy="5143500"/>
          </a:xfrm>
          <a:prstGeom prst="rect">
            <a:avLst/>
          </a:prstGeom>
          <a:solidFill>
            <a:srgbClr val="22345F"/>
          </a:solidFill>
          <a:ln w="12700">
            <a:solidFill>
              <a:srgbClr val="22345F"/>
            </a:solidFill>
            <a:prstDash val="solid"/>
          </a:ln>
        </p:spPr>
        <p:txBody>
          <a:bodyPr/>
          <a:lstStyle/>
          <a:p>
            <a:endParaRPr lang="en-US"/>
          </a:p>
        </p:txBody>
      </p:sp>
      <p:sp>
        <p:nvSpPr>
          <p:cNvPr id="3" name="Shape 1"/>
          <p:cNvSpPr/>
          <p:nvPr/>
        </p:nvSpPr>
        <p:spPr>
          <a:xfrm>
            <a:off x="4297680" y="0"/>
            <a:ext cx="64008" cy="5143500"/>
          </a:xfrm>
          <a:prstGeom prst="rect">
            <a:avLst/>
          </a:prstGeom>
          <a:solidFill>
            <a:srgbClr val="B19231"/>
          </a:solidFill>
          <a:ln w="12700">
            <a:solidFill>
              <a:srgbClr val="B19231"/>
            </a:solidFill>
            <a:prstDash val="solid"/>
          </a:ln>
        </p:spPr>
        <p:txBody>
          <a:bodyPr/>
          <a:lstStyle/>
          <a:p>
            <a:endParaRPr lang="en-US"/>
          </a:p>
        </p:txBody>
      </p:sp>
      <p:sp>
        <p:nvSpPr>
          <p:cNvPr id="4" name="Text 2"/>
          <p:cNvSpPr/>
          <p:nvPr/>
        </p:nvSpPr>
        <p:spPr>
          <a:xfrm>
            <a:off x="320040" y="411480"/>
            <a:ext cx="3794760" cy="2103120"/>
          </a:xfrm>
          <a:prstGeom prst="rect">
            <a:avLst/>
          </a:prstGeom>
          <a:noFill/>
          <a:ln/>
        </p:spPr>
        <p:txBody>
          <a:bodyPr wrap="square" rtlCol="0" anchor="ctr"/>
          <a:lstStyle/>
          <a:p>
            <a:pPr marL="0" indent="0" algn="l">
              <a:buNone/>
            </a:pPr>
            <a:r>
              <a:rPr lang="en-US" sz="3600" b="1">
                <a:solidFill>
                  <a:srgbClr val="FFFFFF"/>
                </a:solidFill>
                <a:latin typeface="Calibri" pitchFamily="34" charset="0"/>
                <a:ea typeface="Calibri" pitchFamily="34" charset="-122"/>
                <a:cs typeface="Calibri" pitchFamily="34" charset="-120"/>
              </a:rPr>
              <a:t>Gold Price</a:t>
            </a:r>
            <a:endParaRPr lang="en-US" sz="3600"/>
          </a:p>
          <a:p>
            <a:pPr marL="0" indent="0" algn="l">
              <a:buNone/>
            </a:pPr>
            <a:r>
              <a:rPr lang="en-US" sz="3600" b="1">
                <a:solidFill>
                  <a:srgbClr val="FFFFFF"/>
                </a:solidFill>
                <a:latin typeface="Calibri" pitchFamily="34" charset="0"/>
                <a:ea typeface="Calibri" pitchFamily="34" charset="-122"/>
                <a:cs typeface="Calibri" pitchFamily="34" charset="-120"/>
              </a:rPr>
              <a:t>Analytics</a:t>
            </a:r>
            <a:endParaRPr lang="en-US" sz="3600"/>
          </a:p>
          <a:p>
            <a:pPr marL="0" indent="0" algn="l">
              <a:buNone/>
            </a:pPr>
            <a:r>
              <a:rPr lang="en-US" sz="3600" b="1">
                <a:solidFill>
                  <a:srgbClr val="FFFFFF"/>
                </a:solidFill>
                <a:latin typeface="Calibri" pitchFamily="34" charset="0"/>
                <a:ea typeface="Calibri" pitchFamily="34" charset="-122"/>
                <a:cs typeface="Calibri" pitchFamily="34" charset="-120"/>
              </a:rPr>
              <a:t>Dashboard</a:t>
            </a:r>
            <a:endParaRPr lang="en-US" sz="3600"/>
          </a:p>
        </p:txBody>
      </p:sp>
      <p:sp>
        <p:nvSpPr>
          <p:cNvPr id="5" name="Shape 3"/>
          <p:cNvSpPr/>
          <p:nvPr/>
        </p:nvSpPr>
        <p:spPr>
          <a:xfrm>
            <a:off x="320040" y="2651760"/>
            <a:ext cx="3200400" cy="45720"/>
          </a:xfrm>
          <a:prstGeom prst="rect">
            <a:avLst/>
          </a:prstGeom>
          <a:solidFill>
            <a:srgbClr val="B19231"/>
          </a:solidFill>
          <a:ln w="12700">
            <a:solidFill>
              <a:srgbClr val="B19231"/>
            </a:solidFill>
            <a:prstDash val="solid"/>
          </a:ln>
        </p:spPr>
        <p:txBody>
          <a:bodyPr/>
          <a:lstStyle/>
          <a:p>
            <a:endParaRPr lang="en-US"/>
          </a:p>
        </p:txBody>
      </p:sp>
      <p:sp>
        <p:nvSpPr>
          <p:cNvPr id="6" name="Text 4"/>
          <p:cNvSpPr/>
          <p:nvPr/>
        </p:nvSpPr>
        <p:spPr>
          <a:xfrm>
            <a:off x="320040" y="2788920"/>
            <a:ext cx="3794760" cy="320040"/>
          </a:xfrm>
          <a:prstGeom prst="rect">
            <a:avLst/>
          </a:prstGeom>
          <a:noFill/>
          <a:ln/>
        </p:spPr>
        <p:txBody>
          <a:bodyPr wrap="square" rtlCol="0" anchor="ctr"/>
          <a:lstStyle/>
          <a:p>
            <a:pPr marL="0" indent="0" algn="l">
              <a:buNone/>
            </a:pPr>
            <a:r>
              <a:rPr lang="en-US" sz="1100">
                <a:solidFill>
                  <a:srgbClr val="D4AF50"/>
                </a:solidFill>
                <a:latin typeface="Calibri" pitchFamily="34" charset="0"/>
                <a:ea typeface="Calibri" pitchFamily="34" charset="-122"/>
                <a:cs typeface="Calibri" pitchFamily="34" charset="-120"/>
              </a:rPr>
              <a:t>COMP 3250  |  Data Analytics I  |  Group 8</a:t>
            </a:r>
            <a:endParaRPr lang="en-US" sz="1100"/>
          </a:p>
        </p:txBody>
      </p:sp>
      <p:sp>
        <p:nvSpPr>
          <p:cNvPr id="7" name="Text 5"/>
          <p:cNvSpPr/>
          <p:nvPr/>
        </p:nvSpPr>
        <p:spPr>
          <a:xfrm>
            <a:off x="320040" y="3182112"/>
            <a:ext cx="3794760" cy="868680"/>
          </a:xfrm>
          <a:prstGeom prst="rect">
            <a:avLst/>
          </a:prstGeom>
          <a:noFill/>
          <a:ln/>
        </p:spPr>
        <p:txBody>
          <a:bodyPr wrap="square" rtlCol="0" anchor="ctr"/>
          <a:lstStyle/>
          <a:p>
            <a:pPr marL="0" indent="0" algn="l">
              <a:buNone/>
            </a:pPr>
            <a:r>
              <a:rPr lang="en-US" sz="1300" b="1">
                <a:solidFill>
                  <a:srgbClr val="FFFFFF"/>
                </a:solidFill>
                <a:latin typeface="Calibri" pitchFamily="34" charset="0"/>
                <a:ea typeface="Calibri" pitchFamily="34" charset="-122"/>
                <a:cs typeface="Calibri" pitchFamily="34" charset="-120"/>
              </a:rPr>
              <a:t>Aakanksha Mandal</a:t>
            </a:r>
            <a:endParaRPr lang="en-US" sz="1300"/>
          </a:p>
          <a:p>
            <a:pPr marL="0" indent="0" algn="l">
              <a:buNone/>
            </a:pPr>
            <a:r>
              <a:rPr lang="en-US" sz="1300" b="1">
                <a:solidFill>
                  <a:srgbClr val="FFFFFF"/>
                </a:solidFill>
                <a:latin typeface="Calibri" pitchFamily="34" charset="0"/>
                <a:ea typeface="Calibri" pitchFamily="34" charset="-122"/>
                <a:cs typeface="Calibri" pitchFamily="34" charset="-120"/>
              </a:rPr>
              <a:t>Abhishek Chaparala</a:t>
            </a:r>
            <a:endParaRPr lang="en-US" sz="1300"/>
          </a:p>
          <a:p>
            <a:pPr marL="0" indent="0" algn="l">
              <a:buNone/>
            </a:pPr>
            <a:r>
              <a:rPr lang="en-US" sz="1300" b="1">
                <a:solidFill>
                  <a:srgbClr val="FFFFFF"/>
                </a:solidFill>
                <a:latin typeface="Calibri" pitchFamily="34" charset="0"/>
                <a:ea typeface="Calibri" pitchFamily="34" charset="-122"/>
                <a:cs typeface="Calibri" pitchFamily="34" charset="-120"/>
              </a:rPr>
              <a:t>Brett Adams</a:t>
            </a:r>
            <a:endParaRPr lang="en-US" sz="1300"/>
          </a:p>
        </p:txBody>
      </p:sp>
      <p:sp>
        <p:nvSpPr>
          <p:cNvPr id="8" name="Text 6"/>
          <p:cNvSpPr/>
          <p:nvPr/>
        </p:nvSpPr>
        <p:spPr>
          <a:xfrm>
            <a:off x="320040" y="4160520"/>
            <a:ext cx="3794760" cy="320040"/>
          </a:xfrm>
          <a:prstGeom prst="rect">
            <a:avLst/>
          </a:prstGeom>
          <a:noFill/>
          <a:ln/>
        </p:spPr>
        <p:txBody>
          <a:bodyPr wrap="square" rtlCol="0" anchor="ctr"/>
          <a:lstStyle/>
          <a:p>
            <a:pPr marL="0" indent="0" algn="l">
              <a:buNone/>
            </a:pPr>
            <a:r>
              <a:rPr lang="en-US" sz="1000" i="1">
                <a:solidFill>
                  <a:srgbClr val="C4CAD8"/>
                </a:solidFill>
                <a:latin typeface="Calibri" pitchFamily="34" charset="0"/>
                <a:ea typeface="Calibri" pitchFamily="34" charset="-122"/>
                <a:cs typeface="Calibri" pitchFamily="34" charset="-120"/>
              </a:rPr>
              <a:t>March 29, 2026  |  Dr. Andreas Maniatis</a:t>
            </a:r>
            <a:endParaRPr lang="en-US" sz="1000"/>
          </a:p>
        </p:txBody>
      </p:sp>
      <p:sp>
        <p:nvSpPr>
          <p:cNvPr id="9" name="Text 7"/>
          <p:cNvSpPr/>
          <p:nvPr/>
        </p:nvSpPr>
        <p:spPr>
          <a:xfrm>
            <a:off x="4617720" y="502920"/>
            <a:ext cx="4206240" cy="347472"/>
          </a:xfrm>
          <a:prstGeom prst="rect">
            <a:avLst/>
          </a:prstGeom>
          <a:noFill/>
          <a:ln/>
        </p:spPr>
        <p:txBody>
          <a:bodyPr wrap="square" rtlCol="0" anchor="ctr"/>
          <a:lstStyle/>
          <a:p>
            <a:pPr marL="0" indent="0">
              <a:buNone/>
            </a:pPr>
            <a:r>
              <a:rPr lang="en-US" sz="1300" i="1">
                <a:solidFill>
                  <a:srgbClr val="D4AF50"/>
                </a:solidFill>
                <a:latin typeface="Calibri" pitchFamily="34" charset="0"/>
                <a:ea typeface="Calibri" pitchFamily="34" charset="-122"/>
                <a:cs typeface="Calibri" pitchFamily="34" charset="-120"/>
              </a:rPr>
              <a:t>Did you know?</a:t>
            </a:r>
            <a:endParaRPr lang="en-US" sz="1300"/>
          </a:p>
        </p:txBody>
      </p:sp>
      <p:sp>
        <p:nvSpPr>
          <p:cNvPr id="10" name="Shape 8"/>
          <p:cNvSpPr/>
          <p:nvPr/>
        </p:nvSpPr>
        <p:spPr>
          <a:xfrm>
            <a:off x="4617720" y="960120"/>
            <a:ext cx="4206240" cy="1463040"/>
          </a:xfrm>
          <a:prstGeom prst="rect">
            <a:avLst/>
          </a:prstGeom>
          <a:solidFill>
            <a:srgbClr val="22345F"/>
          </a:solidFill>
          <a:ln w="12700">
            <a:solidFill>
              <a:srgbClr val="B19231"/>
            </a:solidFill>
            <a:prstDash val="solid"/>
          </a:ln>
        </p:spPr>
        <p:txBody>
          <a:bodyPr/>
          <a:lstStyle/>
          <a:p>
            <a:endParaRPr lang="en-US"/>
          </a:p>
        </p:txBody>
      </p:sp>
      <p:sp>
        <p:nvSpPr>
          <p:cNvPr id="11" name="Text 9"/>
          <p:cNvSpPr/>
          <p:nvPr/>
        </p:nvSpPr>
        <p:spPr>
          <a:xfrm>
            <a:off x="4617720" y="1005840"/>
            <a:ext cx="4206240" cy="868680"/>
          </a:xfrm>
          <a:prstGeom prst="rect">
            <a:avLst/>
          </a:prstGeom>
          <a:noFill/>
          <a:ln/>
        </p:spPr>
        <p:txBody>
          <a:bodyPr wrap="square" rtlCol="0" anchor="ctr"/>
          <a:lstStyle/>
          <a:p>
            <a:pPr marL="0" indent="0" algn="ctr">
              <a:buNone/>
            </a:pPr>
            <a:r>
              <a:rPr lang="en-US" sz="6800" b="1">
                <a:solidFill>
                  <a:srgbClr val="D4AF50"/>
                </a:solidFill>
                <a:latin typeface="Calibri" pitchFamily="34" charset="0"/>
                <a:ea typeface="Calibri" pitchFamily="34" charset="-122"/>
                <a:cs typeface="Calibri" pitchFamily="34" charset="-120"/>
              </a:rPr>
              <a:t>+80%</a:t>
            </a:r>
            <a:endParaRPr lang="en-US" sz="6800"/>
          </a:p>
        </p:txBody>
      </p:sp>
      <p:sp>
        <p:nvSpPr>
          <p:cNvPr id="12" name="Text 10"/>
          <p:cNvSpPr/>
          <p:nvPr/>
        </p:nvSpPr>
        <p:spPr>
          <a:xfrm>
            <a:off x="4617720" y="1828800"/>
            <a:ext cx="4206240" cy="384048"/>
          </a:xfrm>
          <a:prstGeom prst="rect">
            <a:avLst/>
          </a:prstGeom>
          <a:noFill/>
          <a:ln/>
        </p:spPr>
        <p:txBody>
          <a:bodyPr wrap="square" rtlCol="0" anchor="ctr"/>
          <a:lstStyle/>
          <a:p>
            <a:pPr marL="0" indent="0" algn="ctr">
              <a:buNone/>
            </a:pPr>
            <a:r>
              <a:rPr lang="en-US" sz="1300">
                <a:solidFill>
                  <a:srgbClr val="FFFFFF"/>
                </a:solidFill>
                <a:latin typeface="Calibri" pitchFamily="34" charset="0"/>
                <a:ea typeface="Calibri" pitchFamily="34" charset="-122"/>
                <a:cs typeface="Calibri" pitchFamily="34" charset="-120"/>
              </a:rPr>
              <a:t>gold price increase since 2016</a:t>
            </a:r>
            <a:endParaRPr lang="en-US" sz="1300"/>
          </a:p>
        </p:txBody>
      </p:sp>
      <p:sp>
        <p:nvSpPr>
          <p:cNvPr id="13" name="Text 11"/>
          <p:cNvSpPr/>
          <p:nvPr/>
        </p:nvSpPr>
        <p:spPr>
          <a:xfrm>
            <a:off x="4617720" y="2651760"/>
            <a:ext cx="4206240" cy="1005840"/>
          </a:xfrm>
          <a:prstGeom prst="rect">
            <a:avLst/>
          </a:prstGeom>
          <a:noFill/>
          <a:ln/>
        </p:spPr>
        <p:txBody>
          <a:bodyPr wrap="square" rtlCol="0" anchor="ctr"/>
          <a:lstStyle/>
          <a:p>
            <a:pPr marL="0" indent="0" algn="l">
              <a:buNone/>
            </a:pPr>
            <a:r>
              <a:rPr lang="en-US" sz="1900" b="1">
                <a:solidFill>
                  <a:srgbClr val="FFFFFF"/>
                </a:solidFill>
                <a:latin typeface="Calibri" pitchFamily="34" charset="0"/>
                <a:ea typeface="Calibri" pitchFamily="34" charset="-122"/>
                <a:cs typeface="Calibri" pitchFamily="34" charset="-120"/>
              </a:rPr>
              <a:t>Why are most investors</a:t>
            </a:r>
            <a:endParaRPr lang="en-US" sz="1900"/>
          </a:p>
          <a:p>
            <a:pPr marL="0" indent="0" algn="l">
              <a:buNone/>
            </a:pPr>
            <a:r>
              <a:rPr lang="en-US" sz="1900" b="1">
                <a:solidFill>
                  <a:srgbClr val="FFFFFF"/>
                </a:solidFill>
                <a:latin typeface="Calibri" pitchFamily="34" charset="0"/>
                <a:ea typeface="Calibri" pitchFamily="34" charset="-122"/>
                <a:cs typeface="Calibri" pitchFamily="34" charset="-120"/>
              </a:rPr>
              <a:t>still reading raw CSV files?</a:t>
            </a:r>
            <a:endParaRPr lang="en-US" sz="1900"/>
          </a:p>
        </p:txBody>
      </p:sp>
      <p:sp>
        <p:nvSpPr>
          <p:cNvPr id="14" name="Shape 12"/>
          <p:cNvSpPr/>
          <p:nvPr/>
        </p:nvSpPr>
        <p:spPr>
          <a:xfrm>
            <a:off x="0" y="4754880"/>
            <a:ext cx="9144000" cy="388620"/>
          </a:xfrm>
          <a:prstGeom prst="rect">
            <a:avLst/>
          </a:prstGeom>
          <a:solidFill>
            <a:srgbClr val="B19231"/>
          </a:solidFill>
          <a:ln w="12700">
            <a:solidFill>
              <a:srgbClr val="B19231"/>
            </a:solidFill>
            <a:prstDash val="solid"/>
          </a:ln>
        </p:spPr>
        <p:txBody>
          <a:bodyPr/>
          <a:lstStyle/>
          <a:p>
            <a:endParaRPr lang="en-US"/>
          </a:p>
        </p:txBody>
      </p:sp>
      <p:sp>
        <p:nvSpPr>
          <p:cNvPr id="15" name="Text 13"/>
          <p:cNvSpPr/>
          <p:nvPr/>
        </p:nvSpPr>
        <p:spPr>
          <a:xfrm>
            <a:off x="274320" y="4782312"/>
            <a:ext cx="8595360" cy="274320"/>
          </a:xfrm>
          <a:prstGeom prst="rect">
            <a:avLst/>
          </a:prstGeom>
          <a:noFill/>
          <a:ln/>
        </p:spPr>
        <p:txBody>
          <a:bodyPr wrap="square" rtlCol="0" anchor="ctr"/>
          <a:lstStyle/>
          <a:p>
            <a:pPr marL="0" indent="0" algn="ctr">
              <a:buNone/>
            </a:pPr>
            <a:r>
              <a:rPr lang="en-US" sz="950" b="1">
                <a:solidFill>
                  <a:srgbClr val="111B35"/>
                </a:solidFill>
                <a:latin typeface="Calibri" pitchFamily="34" charset="0"/>
                <a:ea typeface="Calibri" pitchFamily="34" charset="-122"/>
                <a:cs typeface="Calibri" pitchFamily="34" charset="-120"/>
              </a:rPr>
              <a:t>COMP 3250  |  Group 8  |  University of Windsor  |  2026</a:t>
            </a:r>
            <a:endParaRPr lang="en-US" sz="9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FE8"/>
        </a:solidFill>
        <a:effectLst/>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22345F"/>
          </a:solidFill>
          <a:ln w="12700">
            <a:solidFill>
              <a:srgbClr val="22345F"/>
            </a:solidFill>
            <a:prstDash val="solid"/>
          </a:ln>
        </p:spPr>
        <p:txBody>
          <a:bodyPr/>
          <a:lstStyle/>
          <a:p>
            <a:endParaRPr lang="en-US"/>
          </a:p>
        </p:txBody>
      </p:sp>
      <p:sp>
        <p:nvSpPr>
          <p:cNvPr id="3" name="Shape 1"/>
          <p:cNvSpPr/>
          <p:nvPr/>
        </p:nvSpPr>
        <p:spPr>
          <a:xfrm>
            <a:off x="0" y="603504"/>
            <a:ext cx="9144000" cy="54864"/>
          </a:xfrm>
          <a:prstGeom prst="rect">
            <a:avLst/>
          </a:prstGeom>
          <a:solidFill>
            <a:srgbClr val="B19231"/>
          </a:solidFill>
          <a:ln w="12700">
            <a:solidFill>
              <a:srgbClr val="B19231"/>
            </a:solidFill>
            <a:prstDash val="solid"/>
          </a:ln>
        </p:spPr>
        <p:txBody>
          <a:bodyPr/>
          <a:lstStyle/>
          <a:p>
            <a:endParaRPr lang="en-US"/>
          </a:p>
        </p:txBody>
      </p:sp>
      <p:sp>
        <p:nvSpPr>
          <p:cNvPr id="4" name="Shape 2"/>
          <p:cNvSpPr/>
          <p:nvPr/>
        </p:nvSpPr>
        <p:spPr>
          <a:xfrm>
            <a:off x="0" y="4754880"/>
            <a:ext cx="9144000" cy="388620"/>
          </a:xfrm>
          <a:prstGeom prst="rect">
            <a:avLst/>
          </a:prstGeom>
          <a:solidFill>
            <a:srgbClr val="B19231"/>
          </a:solidFill>
          <a:ln w="12700">
            <a:solidFill>
              <a:srgbClr val="B19231"/>
            </a:solidFill>
            <a:prstDash val="solid"/>
          </a:ln>
        </p:spPr>
        <p:txBody>
          <a:bodyPr/>
          <a:lstStyle/>
          <a:p>
            <a:endParaRPr lang="en-US"/>
          </a:p>
        </p:txBody>
      </p:sp>
      <p:sp>
        <p:nvSpPr>
          <p:cNvPr id="5" name="Text 3"/>
          <p:cNvSpPr/>
          <p:nvPr/>
        </p:nvSpPr>
        <p:spPr>
          <a:xfrm>
            <a:off x="320040" y="54864"/>
            <a:ext cx="8503920" cy="493776"/>
          </a:xfrm>
          <a:prstGeom prst="rect">
            <a:avLst/>
          </a:prstGeom>
          <a:noFill/>
          <a:ln/>
        </p:spPr>
        <p:txBody>
          <a:bodyPr wrap="square" lIns="0" tIns="0" rIns="0" bIns="0" rtlCol="0" anchor="ctr"/>
          <a:lstStyle/>
          <a:p>
            <a:pPr marL="0" indent="0" algn="l">
              <a:buNone/>
            </a:pPr>
            <a:r>
              <a:rPr lang="en-US" sz="2100" b="1">
                <a:solidFill>
                  <a:srgbClr val="FFFFFF"/>
                </a:solidFill>
                <a:latin typeface="Calibri" pitchFamily="34" charset="0"/>
                <a:ea typeface="Calibri" pitchFamily="34" charset="-122"/>
                <a:cs typeface="Calibri" pitchFamily="34" charset="-120"/>
              </a:rPr>
              <a:t>Team Members &amp; Roles</a:t>
            </a:r>
            <a:endParaRPr lang="en-US" sz="2100"/>
          </a:p>
        </p:txBody>
      </p:sp>
      <p:sp>
        <p:nvSpPr>
          <p:cNvPr id="6" name="Text 4"/>
          <p:cNvSpPr/>
          <p:nvPr/>
        </p:nvSpPr>
        <p:spPr>
          <a:xfrm>
            <a:off x="274320" y="4782312"/>
            <a:ext cx="8595360" cy="274320"/>
          </a:xfrm>
          <a:prstGeom prst="rect">
            <a:avLst/>
          </a:prstGeom>
          <a:noFill/>
          <a:ln/>
        </p:spPr>
        <p:txBody>
          <a:bodyPr wrap="square" rtlCol="0" anchor="ctr"/>
          <a:lstStyle/>
          <a:p>
            <a:pPr marL="0" indent="0" algn="ctr">
              <a:buNone/>
            </a:pPr>
            <a:r>
              <a:rPr lang="en-US" sz="950" b="1">
                <a:solidFill>
                  <a:srgbClr val="111B35"/>
                </a:solidFill>
                <a:latin typeface="Calibri" pitchFamily="34" charset="0"/>
                <a:ea typeface="Calibri" pitchFamily="34" charset="-122"/>
                <a:cs typeface="Calibri" pitchFamily="34" charset="-120"/>
              </a:rPr>
              <a:t>COMP 3250  |  Group 8  |  University of Windsor  |  2026</a:t>
            </a:r>
            <a:endParaRPr lang="en-US" sz="950"/>
          </a:p>
        </p:txBody>
      </p:sp>
      <p:sp>
        <p:nvSpPr>
          <p:cNvPr id="7" name="Shape 5"/>
          <p:cNvSpPr/>
          <p:nvPr/>
        </p:nvSpPr>
        <p:spPr>
          <a:xfrm>
            <a:off x="256032" y="777240"/>
            <a:ext cx="2724912" cy="3840480"/>
          </a:xfrm>
          <a:prstGeom prst="rect">
            <a:avLst/>
          </a:prstGeom>
          <a:solidFill>
            <a:srgbClr val="FFFFFF"/>
          </a:solidFill>
          <a:ln w="12700">
            <a:solidFill>
              <a:srgbClr val="D0D5E0"/>
            </a:solidFill>
            <a:prstDash val="solid"/>
          </a:ln>
          <a:effectLst>
            <a:outerShdw blurRad="63500" dist="25400" dir="8100000" algn="bl" rotWithShape="0">
              <a:srgbClr val="000000">
                <a:alpha val="10000"/>
              </a:srgbClr>
            </a:outerShdw>
          </a:effectLst>
        </p:spPr>
        <p:txBody>
          <a:bodyPr/>
          <a:lstStyle/>
          <a:p>
            <a:endParaRPr lang="en-US"/>
          </a:p>
        </p:txBody>
      </p:sp>
      <p:sp>
        <p:nvSpPr>
          <p:cNvPr id="8" name="Shape 6"/>
          <p:cNvSpPr/>
          <p:nvPr/>
        </p:nvSpPr>
        <p:spPr>
          <a:xfrm>
            <a:off x="256032" y="777240"/>
            <a:ext cx="2724912" cy="749808"/>
          </a:xfrm>
          <a:prstGeom prst="rect">
            <a:avLst/>
          </a:prstGeom>
          <a:solidFill>
            <a:srgbClr val="22345F"/>
          </a:solidFill>
          <a:ln w="12700">
            <a:solidFill>
              <a:srgbClr val="22345F"/>
            </a:solidFill>
            <a:prstDash val="solid"/>
          </a:ln>
        </p:spPr>
        <p:txBody>
          <a:bodyPr/>
          <a:lstStyle/>
          <a:p>
            <a:endParaRPr lang="en-US"/>
          </a:p>
        </p:txBody>
      </p:sp>
      <p:sp>
        <p:nvSpPr>
          <p:cNvPr id="9" name="Shape 7"/>
          <p:cNvSpPr/>
          <p:nvPr/>
        </p:nvSpPr>
        <p:spPr>
          <a:xfrm>
            <a:off x="256032" y="777240"/>
            <a:ext cx="54864" cy="3840480"/>
          </a:xfrm>
          <a:prstGeom prst="rect">
            <a:avLst/>
          </a:prstGeom>
          <a:solidFill>
            <a:srgbClr val="B19231"/>
          </a:solidFill>
          <a:ln w="12700">
            <a:solidFill>
              <a:srgbClr val="B19231"/>
            </a:solidFill>
            <a:prstDash val="solid"/>
          </a:ln>
        </p:spPr>
        <p:txBody>
          <a:bodyPr/>
          <a:lstStyle/>
          <a:p>
            <a:endParaRPr lang="en-US"/>
          </a:p>
        </p:txBody>
      </p:sp>
      <p:sp>
        <p:nvSpPr>
          <p:cNvPr id="10" name="Text 8"/>
          <p:cNvSpPr/>
          <p:nvPr/>
        </p:nvSpPr>
        <p:spPr>
          <a:xfrm>
            <a:off x="384048" y="822960"/>
            <a:ext cx="2542032" cy="384048"/>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Aakanksha Mandal</a:t>
            </a:r>
            <a:endParaRPr lang="en-US" sz="1300"/>
          </a:p>
        </p:txBody>
      </p:sp>
      <p:sp>
        <p:nvSpPr>
          <p:cNvPr id="11" name="Shape 9"/>
          <p:cNvSpPr/>
          <p:nvPr/>
        </p:nvSpPr>
        <p:spPr>
          <a:xfrm>
            <a:off x="384048" y="1627632"/>
            <a:ext cx="2505456" cy="310896"/>
          </a:xfrm>
          <a:prstGeom prst="rect">
            <a:avLst/>
          </a:prstGeom>
          <a:solidFill>
            <a:srgbClr val="B19231"/>
          </a:solidFill>
          <a:ln w="12700">
            <a:solidFill>
              <a:srgbClr val="B19231"/>
            </a:solidFill>
            <a:prstDash val="solid"/>
          </a:ln>
        </p:spPr>
        <p:txBody>
          <a:bodyPr/>
          <a:lstStyle/>
          <a:p>
            <a:endParaRPr lang="en-US"/>
          </a:p>
        </p:txBody>
      </p:sp>
      <p:sp>
        <p:nvSpPr>
          <p:cNvPr id="12" name="Text 10"/>
          <p:cNvSpPr/>
          <p:nvPr/>
        </p:nvSpPr>
        <p:spPr>
          <a:xfrm>
            <a:off x="384048" y="1627632"/>
            <a:ext cx="2505456" cy="310896"/>
          </a:xfrm>
          <a:prstGeom prst="rect">
            <a:avLst/>
          </a:prstGeom>
          <a:noFill/>
          <a:ln/>
        </p:spPr>
        <p:txBody>
          <a:bodyPr wrap="square" rtlCol="0" anchor="ctr"/>
          <a:lstStyle/>
          <a:p>
            <a:pPr marL="0" indent="0" algn="ctr">
              <a:buNone/>
            </a:pPr>
            <a:r>
              <a:rPr lang="en-US" sz="1100" b="1">
                <a:solidFill>
                  <a:srgbClr val="111B35"/>
                </a:solidFill>
                <a:latin typeface="Calibri" pitchFamily="34" charset="0"/>
                <a:ea typeface="Calibri" pitchFamily="34" charset="-122"/>
                <a:cs typeface="Calibri" pitchFamily="34" charset="-120"/>
              </a:rPr>
              <a:t>Project Coordinator</a:t>
            </a:r>
            <a:endParaRPr lang="en-US" sz="1100"/>
          </a:p>
        </p:txBody>
      </p:sp>
      <p:sp>
        <p:nvSpPr>
          <p:cNvPr id="13" name="Shape 11"/>
          <p:cNvSpPr/>
          <p:nvPr/>
        </p:nvSpPr>
        <p:spPr>
          <a:xfrm>
            <a:off x="402336" y="2148840"/>
            <a:ext cx="73152" cy="73152"/>
          </a:xfrm>
          <a:prstGeom prst="ellipse">
            <a:avLst/>
          </a:prstGeom>
          <a:solidFill>
            <a:srgbClr val="B19231"/>
          </a:solidFill>
          <a:ln w="12700">
            <a:solidFill>
              <a:srgbClr val="B19231"/>
            </a:solidFill>
            <a:prstDash val="solid"/>
          </a:ln>
        </p:spPr>
        <p:txBody>
          <a:bodyPr/>
          <a:lstStyle/>
          <a:p>
            <a:endParaRPr lang="en-US"/>
          </a:p>
        </p:txBody>
      </p:sp>
      <p:sp>
        <p:nvSpPr>
          <p:cNvPr id="14" name="Text 12"/>
          <p:cNvSpPr/>
          <p:nvPr/>
        </p:nvSpPr>
        <p:spPr>
          <a:xfrm>
            <a:off x="530352" y="2066544"/>
            <a:ext cx="2340864" cy="402336"/>
          </a:xfrm>
          <a:prstGeom prst="rect">
            <a:avLst/>
          </a:prstGeom>
          <a:noFill/>
          <a:ln/>
        </p:spPr>
        <p:txBody>
          <a:bodyPr wrap="square" rtlCol="0" anchor="ctr"/>
          <a:lstStyle/>
          <a:p>
            <a:pPr marL="0" indent="0">
              <a:buNone/>
            </a:pPr>
            <a:r>
              <a:rPr lang="en-US" sz="1200">
                <a:solidFill>
                  <a:srgbClr val="2C3E50"/>
                </a:solidFill>
                <a:latin typeface="Calibri" pitchFamily="34" charset="0"/>
                <a:ea typeface="Calibri" pitchFamily="34" charset="-122"/>
                <a:cs typeface="Calibri" pitchFamily="34" charset="-120"/>
              </a:rPr>
              <a:t>Hive workspace &amp; GitHub setup</a:t>
            </a:r>
            <a:endParaRPr lang="en-US" sz="1200"/>
          </a:p>
        </p:txBody>
      </p:sp>
      <p:sp>
        <p:nvSpPr>
          <p:cNvPr id="15" name="Shape 13"/>
          <p:cNvSpPr/>
          <p:nvPr/>
        </p:nvSpPr>
        <p:spPr>
          <a:xfrm>
            <a:off x="402336" y="2660904"/>
            <a:ext cx="73152" cy="73152"/>
          </a:xfrm>
          <a:prstGeom prst="ellipse">
            <a:avLst/>
          </a:prstGeom>
          <a:solidFill>
            <a:srgbClr val="B19231"/>
          </a:solidFill>
          <a:ln w="12700">
            <a:solidFill>
              <a:srgbClr val="B19231"/>
            </a:solidFill>
            <a:prstDash val="solid"/>
          </a:ln>
        </p:spPr>
        <p:txBody>
          <a:bodyPr/>
          <a:lstStyle/>
          <a:p>
            <a:endParaRPr lang="en-US"/>
          </a:p>
        </p:txBody>
      </p:sp>
      <p:sp>
        <p:nvSpPr>
          <p:cNvPr id="16" name="Text 14"/>
          <p:cNvSpPr/>
          <p:nvPr/>
        </p:nvSpPr>
        <p:spPr>
          <a:xfrm>
            <a:off x="530352" y="2578608"/>
            <a:ext cx="2340864" cy="402336"/>
          </a:xfrm>
          <a:prstGeom prst="rect">
            <a:avLst/>
          </a:prstGeom>
          <a:noFill/>
          <a:ln/>
        </p:spPr>
        <p:txBody>
          <a:bodyPr wrap="square" rtlCol="0" anchor="ctr"/>
          <a:lstStyle/>
          <a:p>
            <a:pPr marL="0" indent="0">
              <a:buNone/>
            </a:pPr>
            <a:r>
              <a:rPr lang="en-US" sz="1200">
                <a:solidFill>
                  <a:srgbClr val="2C3E50"/>
                </a:solidFill>
                <a:latin typeface="Calibri" pitchFamily="34" charset="0"/>
                <a:ea typeface="Calibri" pitchFamily="34" charset="-122"/>
                <a:cs typeface="Calibri" pitchFamily="34" charset="-120"/>
              </a:rPr>
              <a:t>Data cleaning &amp; DAX measures</a:t>
            </a:r>
            <a:endParaRPr lang="en-US" sz="1200"/>
          </a:p>
        </p:txBody>
      </p:sp>
      <p:sp>
        <p:nvSpPr>
          <p:cNvPr id="17" name="Shape 15"/>
          <p:cNvSpPr/>
          <p:nvPr/>
        </p:nvSpPr>
        <p:spPr>
          <a:xfrm>
            <a:off x="402336" y="3172968"/>
            <a:ext cx="73152" cy="73152"/>
          </a:xfrm>
          <a:prstGeom prst="ellipse">
            <a:avLst/>
          </a:prstGeom>
          <a:solidFill>
            <a:srgbClr val="B19231"/>
          </a:solidFill>
          <a:ln w="12700">
            <a:solidFill>
              <a:srgbClr val="B19231"/>
            </a:solidFill>
            <a:prstDash val="solid"/>
          </a:ln>
        </p:spPr>
        <p:txBody>
          <a:bodyPr/>
          <a:lstStyle/>
          <a:p>
            <a:endParaRPr lang="en-US"/>
          </a:p>
        </p:txBody>
      </p:sp>
      <p:sp>
        <p:nvSpPr>
          <p:cNvPr id="18" name="Text 16"/>
          <p:cNvSpPr/>
          <p:nvPr/>
        </p:nvSpPr>
        <p:spPr>
          <a:xfrm>
            <a:off x="530352" y="3090672"/>
            <a:ext cx="2340864" cy="402336"/>
          </a:xfrm>
          <a:prstGeom prst="rect">
            <a:avLst/>
          </a:prstGeom>
          <a:noFill/>
          <a:ln/>
        </p:spPr>
        <p:txBody>
          <a:bodyPr wrap="square" rtlCol="0" anchor="ctr"/>
          <a:lstStyle/>
          <a:p>
            <a:pPr marL="0" indent="0">
              <a:buNone/>
            </a:pPr>
            <a:r>
              <a:rPr lang="en-US" sz="1200">
                <a:solidFill>
                  <a:srgbClr val="2C3E50"/>
                </a:solidFill>
                <a:latin typeface="Calibri" pitchFamily="34" charset="0"/>
                <a:ea typeface="Calibri" pitchFamily="34" charset="-122"/>
                <a:cs typeface="Calibri" pitchFamily="34" charset="-120"/>
              </a:rPr>
              <a:t>Addendums A &amp; B</a:t>
            </a:r>
            <a:endParaRPr lang="en-US" sz="1200"/>
          </a:p>
        </p:txBody>
      </p:sp>
      <p:sp>
        <p:nvSpPr>
          <p:cNvPr id="19" name="Shape 17"/>
          <p:cNvSpPr/>
          <p:nvPr/>
        </p:nvSpPr>
        <p:spPr>
          <a:xfrm>
            <a:off x="3154680" y="777240"/>
            <a:ext cx="2724912" cy="3840480"/>
          </a:xfrm>
          <a:prstGeom prst="rect">
            <a:avLst/>
          </a:prstGeom>
          <a:solidFill>
            <a:srgbClr val="FFFFFF"/>
          </a:solidFill>
          <a:ln w="12700">
            <a:solidFill>
              <a:srgbClr val="D0D5E0"/>
            </a:solidFill>
            <a:prstDash val="solid"/>
          </a:ln>
          <a:effectLst>
            <a:outerShdw blurRad="63500" dist="25400" dir="8100000" algn="bl" rotWithShape="0">
              <a:srgbClr val="000000">
                <a:alpha val="10000"/>
              </a:srgbClr>
            </a:outerShdw>
          </a:effectLst>
        </p:spPr>
        <p:txBody>
          <a:bodyPr/>
          <a:lstStyle/>
          <a:p>
            <a:endParaRPr lang="en-US"/>
          </a:p>
        </p:txBody>
      </p:sp>
      <p:sp>
        <p:nvSpPr>
          <p:cNvPr id="20" name="Shape 18"/>
          <p:cNvSpPr/>
          <p:nvPr/>
        </p:nvSpPr>
        <p:spPr>
          <a:xfrm>
            <a:off x="3154680" y="777240"/>
            <a:ext cx="2724912" cy="749808"/>
          </a:xfrm>
          <a:prstGeom prst="rect">
            <a:avLst/>
          </a:prstGeom>
          <a:solidFill>
            <a:srgbClr val="22345F"/>
          </a:solidFill>
          <a:ln w="12700">
            <a:solidFill>
              <a:srgbClr val="22345F"/>
            </a:solidFill>
            <a:prstDash val="solid"/>
          </a:ln>
        </p:spPr>
        <p:txBody>
          <a:bodyPr/>
          <a:lstStyle/>
          <a:p>
            <a:endParaRPr lang="en-US"/>
          </a:p>
        </p:txBody>
      </p:sp>
      <p:sp>
        <p:nvSpPr>
          <p:cNvPr id="21" name="Shape 19"/>
          <p:cNvSpPr/>
          <p:nvPr/>
        </p:nvSpPr>
        <p:spPr>
          <a:xfrm>
            <a:off x="3154680" y="777240"/>
            <a:ext cx="54864" cy="3840480"/>
          </a:xfrm>
          <a:prstGeom prst="rect">
            <a:avLst/>
          </a:prstGeom>
          <a:solidFill>
            <a:srgbClr val="B19231"/>
          </a:solidFill>
          <a:ln w="12700">
            <a:solidFill>
              <a:srgbClr val="B19231"/>
            </a:solidFill>
            <a:prstDash val="solid"/>
          </a:ln>
        </p:spPr>
        <p:txBody>
          <a:bodyPr/>
          <a:lstStyle/>
          <a:p>
            <a:endParaRPr lang="en-US"/>
          </a:p>
        </p:txBody>
      </p:sp>
      <p:sp>
        <p:nvSpPr>
          <p:cNvPr id="22" name="Text 20"/>
          <p:cNvSpPr/>
          <p:nvPr/>
        </p:nvSpPr>
        <p:spPr>
          <a:xfrm>
            <a:off x="3282696" y="822960"/>
            <a:ext cx="2542032" cy="384048"/>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Brett Adams</a:t>
            </a:r>
            <a:endParaRPr lang="en-US" sz="1300"/>
          </a:p>
        </p:txBody>
      </p:sp>
      <p:sp>
        <p:nvSpPr>
          <p:cNvPr id="23" name="Shape 21"/>
          <p:cNvSpPr/>
          <p:nvPr/>
        </p:nvSpPr>
        <p:spPr>
          <a:xfrm>
            <a:off x="3282696" y="1627632"/>
            <a:ext cx="2505456" cy="310896"/>
          </a:xfrm>
          <a:prstGeom prst="rect">
            <a:avLst/>
          </a:prstGeom>
          <a:solidFill>
            <a:srgbClr val="B19231"/>
          </a:solidFill>
          <a:ln w="12700">
            <a:solidFill>
              <a:srgbClr val="B19231"/>
            </a:solidFill>
            <a:prstDash val="solid"/>
          </a:ln>
        </p:spPr>
        <p:txBody>
          <a:bodyPr/>
          <a:lstStyle/>
          <a:p>
            <a:endParaRPr lang="en-US"/>
          </a:p>
        </p:txBody>
      </p:sp>
      <p:sp>
        <p:nvSpPr>
          <p:cNvPr id="24" name="Text 22"/>
          <p:cNvSpPr/>
          <p:nvPr/>
        </p:nvSpPr>
        <p:spPr>
          <a:xfrm>
            <a:off x="3282696" y="1627632"/>
            <a:ext cx="2505456" cy="310896"/>
          </a:xfrm>
          <a:prstGeom prst="rect">
            <a:avLst/>
          </a:prstGeom>
          <a:noFill/>
          <a:ln/>
        </p:spPr>
        <p:txBody>
          <a:bodyPr wrap="square" rtlCol="0" anchor="ctr"/>
          <a:lstStyle/>
          <a:p>
            <a:pPr marL="0" indent="0" algn="ctr">
              <a:buNone/>
            </a:pPr>
            <a:r>
              <a:rPr lang="en-US" sz="1100" b="1">
                <a:solidFill>
                  <a:srgbClr val="111B35"/>
                </a:solidFill>
                <a:latin typeface="Calibri" pitchFamily="34" charset="0"/>
                <a:ea typeface="Calibri" pitchFamily="34" charset="-122"/>
                <a:cs typeface="Calibri" pitchFamily="34" charset="-120"/>
              </a:rPr>
              <a:t>Dashboard Developer</a:t>
            </a:r>
            <a:endParaRPr lang="en-US" sz="1100"/>
          </a:p>
        </p:txBody>
      </p:sp>
      <p:sp>
        <p:nvSpPr>
          <p:cNvPr id="25" name="Shape 23"/>
          <p:cNvSpPr/>
          <p:nvPr/>
        </p:nvSpPr>
        <p:spPr>
          <a:xfrm>
            <a:off x="3300984" y="2148840"/>
            <a:ext cx="73152" cy="73152"/>
          </a:xfrm>
          <a:prstGeom prst="ellipse">
            <a:avLst/>
          </a:prstGeom>
          <a:solidFill>
            <a:srgbClr val="B19231"/>
          </a:solidFill>
          <a:ln w="12700">
            <a:solidFill>
              <a:srgbClr val="B19231"/>
            </a:solidFill>
            <a:prstDash val="solid"/>
          </a:ln>
        </p:spPr>
        <p:txBody>
          <a:bodyPr/>
          <a:lstStyle/>
          <a:p>
            <a:endParaRPr lang="en-US"/>
          </a:p>
        </p:txBody>
      </p:sp>
      <p:sp>
        <p:nvSpPr>
          <p:cNvPr id="26" name="Text 24"/>
          <p:cNvSpPr/>
          <p:nvPr/>
        </p:nvSpPr>
        <p:spPr>
          <a:xfrm>
            <a:off x="3429000" y="2066544"/>
            <a:ext cx="2340864" cy="402336"/>
          </a:xfrm>
          <a:prstGeom prst="rect">
            <a:avLst/>
          </a:prstGeom>
          <a:noFill/>
          <a:ln/>
        </p:spPr>
        <p:txBody>
          <a:bodyPr wrap="square" rtlCol="0" anchor="ctr"/>
          <a:lstStyle/>
          <a:p>
            <a:pPr marL="0" indent="0">
              <a:buNone/>
            </a:pPr>
            <a:r>
              <a:rPr lang="en-US" sz="1200">
                <a:solidFill>
                  <a:srgbClr val="2C3E50"/>
                </a:solidFill>
                <a:latin typeface="Calibri" pitchFamily="34" charset="0"/>
                <a:ea typeface="Calibri" pitchFamily="34" charset="-122"/>
                <a:cs typeface="Calibri" pitchFamily="34" charset="-120"/>
              </a:rPr>
              <a:t>Built all Power BI visuals</a:t>
            </a:r>
            <a:endParaRPr lang="en-US" sz="1200"/>
          </a:p>
        </p:txBody>
      </p:sp>
      <p:sp>
        <p:nvSpPr>
          <p:cNvPr id="27" name="Shape 25"/>
          <p:cNvSpPr/>
          <p:nvPr/>
        </p:nvSpPr>
        <p:spPr>
          <a:xfrm>
            <a:off x="3300984" y="2660904"/>
            <a:ext cx="73152" cy="73152"/>
          </a:xfrm>
          <a:prstGeom prst="ellipse">
            <a:avLst/>
          </a:prstGeom>
          <a:solidFill>
            <a:srgbClr val="B19231"/>
          </a:solidFill>
          <a:ln w="12700">
            <a:solidFill>
              <a:srgbClr val="B19231"/>
            </a:solidFill>
            <a:prstDash val="solid"/>
          </a:ln>
        </p:spPr>
        <p:txBody>
          <a:bodyPr/>
          <a:lstStyle/>
          <a:p>
            <a:endParaRPr lang="en-US"/>
          </a:p>
        </p:txBody>
      </p:sp>
      <p:sp>
        <p:nvSpPr>
          <p:cNvPr id="28" name="Text 26"/>
          <p:cNvSpPr/>
          <p:nvPr/>
        </p:nvSpPr>
        <p:spPr>
          <a:xfrm>
            <a:off x="3429000" y="2578608"/>
            <a:ext cx="2340864" cy="402336"/>
          </a:xfrm>
          <a:prstGeom prst="rect">
            <a:avLst/>
          </a:prstGeom>
          <a:noFill/>
          <a:ln/>
        </p:spPr>
        <p:txBody>
          <a:bodyPr wrap="square" rtlCol="0" anchor="ctr"/>
          <a:lstStyle/>
          <a:p>
            <a:pPr marL="0" indent="0">
              <a:buNone/>
            </a:pPr>
            <a:r>
              <a:rPr lang="en-US" sz="1200">
                <a:solidFill>
                  <a:srgbClr val="2C3E50"/>
                </a:solidFill>
                <a:latin typeface="Calibri" pitchFamily="34" charset="0"/>
                <a:ea typeface="Calibri" pitchFamily="34" charset="-122"/>
                <a:cs typeface="Calibri" pitchFamily="34" charset="-120"/>
              </a:rPr>
              <a:t>KPI cards, charts, OHLCV matrix, forecasting</a:t>
            </a:r>
            <a:endParaRPr lang="en-US" sz="1200"/>
          </a:p>
        </p:txBody>
      </p:sp>
      <p:sp>
        <p:nvSpPr>
          <p:cNvPr id="29" name="Shape 27"/>
          <p:cNvSpPr/>
          <p:nvPr/>
        </p:nvSpPr>
        <p:spPr>
          <a:xfrm>
            <a:off x="3300984" y="3172968"/>
            <a:ext cx="73152" cy="73152"/>
          </a:xfrm>
          <a:prstGeom prst="ellipse">
            <a:avLst/>
          </a:prstGeom>
          <a:solidFill>
            <a:srgbClr val="B19231"/>
          </a:solidFill>
          <a:ln w="12700">
            <a:solidFill>
              <a:srgbClr val="B19231"/>
            </a:solidFill>
            <a:prstDash val="solid"/>
          </a:ln>
        </p:spPr>
        <p:txBody>
          <a:bodyPr/>
          <a:lstStyle/>
          <a:p>
            <a:endParaRPr lang="en-US"/>
          </a:p>
        </p:txBody>
      </p:sp>
      <p:sp>
        <p:nvSpPr>
          <p:cNvPr id="30" name="Text 28"/>
          <p:cNvSpPr/>
          <p:nvPr/>
        </p:nvSpPr>
        <p:spPr>
          <a:xfrm>
            <a:off x="3429000" y="3090672"/>
            <a:ext cx="2340864" cy="402336"/>
          </a:xfrm>
          <a:prstGeom prst="rect">
            <a:avLst/>
          </a:prstGeom>
          <a:noFill/>
          <a:ln/>
        </p:spPr>
        <p:txBody>
          <a:bodyPr wrap="square" rtlCol="0" anchor="ctr"/>
          <a:lstStyle/>
          <a:p>
            <a:pPr marL="0" indent="0">
              <a:buNone/>
            </a:pPr>
            <a:r>
              <a:rPr lang="en-US" sz="1200">
                <a:solidFill>
                  <a:srgbClr val="2C3E50"/>
                </a:solidFill>
                <a:latin typeface="Calibri" pitchFamily="34" charset="0"/>
                <a:ea typeface="Calibri" pitchFamily="34" charset="-122"/>
                <a:cs typeface="Calibri" pitchFamily="34" charset="-120"/>
              </a:rPr>
              <a:t>Dark/Gold theme &amp; formatting</a:t>
            </a:r>
            <a:endParaRPr lang="en-US" sz="1200"/>
          </a:p>
        </p:txBody>
      </p:sp>
      <p:sp>
        <p:nvSpPr>
          <p:cNvPr id="31" name="Shape 29"/>
          <p:cNvSpPr/>
          <p:nvPr/>
        </p:nvSpPr>
        <p:spPr>
          <a:xfrm>
            <a:off x="6053328" y="777240"/>
            <a:ext cx="2724912" cy="3840480"/>
          </a:xfrm>
          <a:prstGeom prst="rect">
            <a:avLst/>
          </a:prstGeom>
          <a:solidFill>
            <a:srgbClr val="FFFFFF"/>
          </a:solidFill>
          <a:ln w="12700">
            <a:solidFill>
              <a:srgbClr val="D0D5E0"/>
            </a:solidFill>
            <a:prstDash val="solid"/>
          </a:ln>
          <a:effectLst>
            <a:outerShdw blurRad="63500" dist="25400" dir="8100000" algn="bl" rotWithShape="0">
              <a:srgbClr val="000000">
                <a:alpha val="10000"/>
              </a:srgbClr>
            </a:outerShdw>
          </a:effectLst>
        </p:spPr>
        <p:txBody>
          <a:bodyPr/>
          <a:lstStyle/>
          <a:p>
            <a:endParaRPr lang="en-US"/>
          </a:p>
        </p:txBody>
      </p:sp>
      <p:sp>
        <p:nvSpPr>
          <p:cNvPr id="32" name="Shape 30"/>
          <p:cNvSpPr/>
          <p:nvPr/>
        </p:nvSpPr>
        <p:spPr>
          <a:xfrm>
            <a:off x="6053328" y="777240"/>
            <a:ext cx="2724912" cy="749808"/>
          </a:xfrm>
          <a:prstGeom prst="rect">
            <a:avLst/>
          </a:prstGeom>
          <a:solidFill>
            <a:srgbClr val="22345F"/>
          </a:solidFill>
          <a:ln w="12700">
            <a:solidFill>
              <a:srgbClr val="22345F"/>
            </a:solidFill>
            <a:prstDash val="solid"/>
          </a:ln>
        </p:spPr>
        <p:txBody>
          <a:bodyPr/>
          <a:lstStyle/>
          <a:p>
            <a:endParaRPr lang="en-US"/>
          </a:p>
        </p:txBody>
      </p:sp>
      <p:sp>
        <p:nvSpPr>
          <p:cNvPr id="33" name="Shape 31"/>
          <p:cNvSpPr/>
          <p:nvPr/>
        </p:nvSpPr>
        <p:spPr>
          <a:xfrm>
            <a:off x="6053328" y="777240"/>
            <a:ext cx="54864" cy="3840480"/>
          </a:xfrm>
          <a:prstGeom prst="rect">
            <a:avLst/>
          </a:prstGeom>
          <a:solidFill>
            <a:srgbClr val="B19231"/>
          </a:solidFill>
          <a:ln w="12700">
            <a:solidFill>
              <a:srgbClr val="B19231"/>
            </a:solidFill>
            <a:prstDash val="solid"/>
          </a:ln>
        </p:spPr>
        <p:txBody>
          <a:bodyPr/>
          <a:lstStyle/>
          <a:p>
            <a:endParaRPr lang="en-US"/>
          </a:p>
        </p:txBody>
      </p:sp>
      <p:sp>
        <p:nvSpPr>
          <p:cNvPr id="34" name="Text 32"/>
          <p:cNvSpPr/>
          <p:nvPr/>
        </p:nvSpPr>
        <p:spPr>
          <a:xfrm>
            <a:off x="6181344" y="822960"/>
            <a:ext cx="2542032" cy="384048"/>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Abhishek Chaparala</a:t>
            </a:r>
            <a:endParaRPr lang="en-US" sz="1300"/>
          </a:p>
        </p:txBody>
      </p:sp>
      <p:sp>
        <p:nvSpPr>
          <p:cNvPr id="35" name="Shape 33"/>
          <p:cNvSpPr/>
          <p:nvPr/>
        </p:nvSpPr>
        <p:spPr>
          <a:xfrm>
            <a:off x="6181344" y="1627632"/>
            <a:ext cx="2505456" cy="310896"/>
          </a:xfrm>
          <a:prstGeom prst="rect">
            <a:avLst/>
          </a:prstGeom>
          <a:solidFill>
            <a:srgbClr val="B19231"/>
          </a:solidFill>
          <a:ln w="12700">
            <a:solidFill>
              <a:srgbClr val="B19231"/>
            </a:solidFill>
            <a:prstDash val="solid"/>
          </a:ln>
        </p:spPr>
        <p:txBody>
          <a:bodyPr/>
          <a:lstStyle/>
          <a:p>
            <a:endParaRPr lang="en-US"/>
          </a:p>
        </p:txBody>
      </p:sp>
      <p:sp>
        <p:nvSpPr>
          <p:cNvPr id="36" name="Text 34"/>
          <p:cNvSpPr/>
          <p:nvPr/>
        </p:nvSpPr>
        <p:spPr>
          <a:xfrm>
            <a:off x="6181344" y="1627632"/>
            <a:ext cx="2505456" cy="310896"/>
          </a:xfrm>
          <a:prstGeom prst="rect">
            <a:avLst/>
          </a:prstGeom>
          <a:noFill/>
          <a:ln/>
        </p:spPr>
        <p:txBody>
          <a:bodyPr wrap="square" rtlCol="0" anchor="ctr"/>
          <a:lstStyle/>
          <a:p>
            <a:pPr marL="0" indent="0" algn="ctr">
              <a:buNone/>
            </a:pPr>
            <a:r>
              <a:rPr lang="en-US" sz="1100" b="1">
                <a:solidFill>
                  <a:srgbClr val="111B35"/>
                </a:solidFill>
                <a:latin typeface="Calibri" pitchFamily="34" charset="0"/>
                <a:ea typeface="Calibri" pitchFamily="34" charset="-122"/>
                <a:cs typeface="Calibri" pitchFamily="34" charset="-120"/>
              </a:rPr>
              <a:t>Research Lead &amp; Report Author</a:t>
            </a:r>
            <a:endParaRPr lang="en-US" sz="1100"/>
          </a:p>
        </p:txBody>
      </p:sp>
      <p:sp>
        <p:nvSpPr>
          <p:cNvPr id="37" name="Shape 35"/>
          <p:cNvSpPr/>
          <p:nvPr/>
        </p:nvSpPr>
        <p:spPr>
          <a:xfrm>
            <a:off x="6199632" y="2148840"/>
            <a:ext cx="73152" cy="73152"/>
          </a:xfrm>
          <a:prstGeom prst="ellipse">
            <a:avLst/>
          </a:prstGeom>
          <a:solidFill>
            <a:srgbClr val="B19231"/>
          </a:solidFill>
          <a:ln w="12700">
            <a:solidFill>
              <a:srgbClr val="B19231"/>
            </a:solidFill>
            <a:prstDash val="solid"/>
          </a:ln>
        </p:spPr>
        <p:txBody>
          <a:bodyPr/>
          <a:lstStyle/>
          <a:p>
            <a:endParaRPr lang="en-US"/>
          </a:p>
        </p:txBody>
      </p:sp>
      <p:sp>
        <p:nvSpPr>
          <p:cNvPr id="38" name="Text 36"/>
          <p:cNvSpPr/>
          <p:nvPr/>
        </p:nvSpPr>
        <p:spPr>
          <a:xfrm>
            <a:off x="6327648" y="2066544"/>
            <a:ext cx="2340864" cy="402336"/>
          </a:xfrm>
          <a:prstGeom prst="rect">
            <a:avLst/>
          </a:prstGeom>
          <a:noFill/>
          <a:ln/>
        </p:spPr>
        <p:txBody>
          <a:bodyPr wrap="square" rtlCol="0" anchor="ctr"/>
          <a:lstStyle/>
          <a:p>
            <a:pPr marL="0" indent="0">
              <a:buNone/>
            </a:pPr>
            <a:r>
              <a:rPr lang="en-US" sz="1200">
                <a:solidFill>
                  <a:srgbClr val="2C3E50"/>
                </a:solidFill>
                <a:latin typeface="Calibri" pitchFamily="34" charset="0"/>
                <a:ea typeface="Calibri" pitchFamily="34" charset="-122"/>
                <a:cs typeface="Calibri" pitchFamily="34" charset="-120"/>
              </a:rPr>
              <a:t>Project proposal &amp; literature</a:t>
            </a:r>
            <a:endParaRPr lang="en-US" sz="1200"/>
          </a:p>
        </p:txBody>
      </p:sp>
      <p:sp>
        <p:nvSpPr>
          <p:cNvPr id="39" name="Shape 37"/>
          <p:cNvSpPr/>
          <p:nvPr/>
        </p:nvSpPr>
        <p:spPr>
          <a:xfrm>
            <a:off x="6199632" y="2660904"/>
            <a:ext cx="73152" cy="73152"/>
          </a:xfrm>
          <a:prstGeom prst="ellipse">
            <a:avLst/>
          </a:prstGeom>
          <a:solidFill>
            <a:srgbClr val="B19231"/>
          </a:solidFill>
          <a:ln w="12700">
            <a:solidFill>
              <a:srgbClr val="B19231"/>
            </a:solidFill>
            <a:prstDash val="solid"/>
          </a:ln>
        </p:spPr>
        <p:txBody>
          <a:bodyPr/>
          <a:lstStyle/>
          <a:p>
            <a:endParaRPr lang="en-US"/>
          </a:p>
        </p:txBody>
      </p:sp>
      <p:sp>
        <p:nvSpPr>
          <p:cNvPr id="40" name="Text 38"/>
          <p:cNvSpPr/>
          <p:nvPr/>
        </p:nvSpPr>
        <p:spPr>
          <a:xfrm>
            <a:off x="6327648" y="2578608"/>
            <a:ext cx="2340864" cy="402336"/>
          </a:xfrm>
          <a:prstGeom prst="rect">
            <a:avLst/>
          </a:prstGeom>
          <a:noFill/>
          <a:ln/>
        </p:spPr>
        <p:txBody>
          <a:bodyPr wrap="square" rtlCol="0" anchor="ctr"/>
          <a:lstStyle/>
          <a:p>
            <a:pPr marL="0" indent="0">
              <a:buNone/>
            </a:pPr>
            <a:r>
              <a:rPr lang="en-US" sz="1200">
                <a:solidFill>
                  <a:srgbClr val="2C3E50"/>
                </a:solidFill>
                <a:latin typeface="Calibri" pitchFamily="34" charset="0"/>
                <a:ea typeface="Calibri" pitchFamily="34" charset="-122"/>
                <a:cs typeface="Calibri" pitchFamily="34" charset="-120"/>
              </a:rPr>
              <a:t>Findings &amp; analysis sections</a:t>
            </a:r>
            <a:endParaRPr lang="en-US" sz="1200"/>
          </a:p>
        </p:txBody>
      </p:sp>
      <p:sp>
        <p:nvSpPr>
          <p:cNvPr id="41" name="Shape 39"/>
          <p:cNvSpPr/>
          <p:nvPr/>
        </p:nvSpPr>
        <p:spPr>
          <a:xfrm>
            <a:off x="6199632" y="3172968"/>
            <a:ext cx="73152" cy="73152"/>
          </a:xfrm>
          <a:prstGeom prst="ellipse">
            <a:avLst/>
          </a:prstGeom>
          <a:solidFill>
            <a:srgbClr val="B19231"/>
          </a:solidFill>
          <a:ln w="12700">
            <a:solidFill>
              <a:srgbClr val="B19231"/>
            </a:solidFill>
            <a:prstDash val="solid"/>
          </a:ln>
        </p:spPr>
        <p:txBody>
          <a:bodyPr/>
          <a:lstStyle/>
          <a:p>
            <a:endParaRPr lang="en-US"/>
          </a:p>
        </p:txBody>
      </p:sp>
      <p:sp>
        <p:nvSpPr>
          <p:cNvPr id="42" name="Text 40"/>
          <p:cNvSpPr/>
          <p:nvPr/>
        </p:nvSpPr>
        <p:spPr>
          <a:xfrm>
            <a:off x="6327648" y="3090672"/>
            <a:ext cx="2340864" cy="402336"/>
          </a:xfrm>
          <a:prstGeom prst="rect">
            <a:avLst/>
          </a:prstGeom>
          <a:noFill/>
          <a:ln/>
        </p:spPr>
        <p:txBody>
          <a:bodyPr wrap="square" rtlCol="0" anchor="ctr"/>
          <a:lstStyle/>
          <a:p>
            <a:pPr marL="0" indent="0">
              <a:buNone/>
            </a:pPr>
            <a:r>
              <a:rPr lang="en-US" sz="1200">
                <a:solidFill>
                  <a:srgbClr val="2C3E50"/>
                </a:solidFill>
                <a:latin typeface="Calibri" pitchFamily="34" charset="0"/>
                <a:ea typeface="Calibri" pitchFamily="34" charset="-122"/>
                <a:cs typeface="Calibri" pitchFamily="34" charset="-120"/>
              </a:rPr>
              <a:t>Addendums C &amp; D</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FE8"/>
        </a:solidFill>
        <a:effectLst/>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22345F"/>
          </a:solidFill>
          <a:ln w="12700">
            <a:solidFill>
              <a:srgbClr val="22345F"/>
            </a:solidFill>
            <a:prstDash val="solid"/>
          </a:ln>
        </p:spPr>
        <p:txBody>
          <a:bodyPr/>
          <a:lstStyle/>
          <a:p>
            <a:endParaRPr lang="en-US"/>
          </a:p>
        </p:txBody>
      </p:sp>
      <p:sp>
        <p:nvSpPr>
          <p:cNvPr id="3" name="Shape 1"/>
          <p:cNvSpPr/>
          <p:nvPr/>
        </p:nvSpPr>
        <p:spPr>
          <a:xfrm>
            <a:off x="0" y="603504"/>
            <a:ext cx="9144000" cy="54864"/>
          </a:xfrm>
          <a:prstGeom prst="rect">
            <a:avLst/>
          </a:prstGeom>
          <a:solidFill>
            <a:srgbClr val="B19231"/>
          </a:solidFill>
          <a:ln w="12700">
            <a:solidFill>
              <a:srgbClr val="B19231"/>
            </a:solidFill>
            <a:prstDash val="solid"/>
          </a:ln>
        </p:spPr>
        <p:txBody>
          <a:bodyPr/>
          <a:lstStyle/>
          <a:p>
            <a:endParaRPr lang="en-US"/>
          </a:p>
        </p:txBody>
      </p:sp>
      <p:sp>
        <p:nvSpPr>
          <p:cNvPr id="4" name="Shape 2"/>
          <p:cNvSpPr/>
          <p:nvPr/>
        </p:nvSpPr>
        <p:spPr>
          <a:xfrm>
            <a:off x="0" y="4754880"/>
            <a:ext cx="9144000" cy="388620"/>
          </a:xfrm>
          <a:prstGeom prst="rect">
            <a:avLst/>
          </a:prstGeom>
          <a:solidFill>
            <a:srgbClr val="B19231"/>
          </a:solidFill>
          <a:ln w="12700">
            <a:solidFill>
              <a:srgbClr val="B19231"/>
            </a:solidFill>
            <a:prstDash val="solid"/>
          </a:ln>
        </p:spPr>
        <p:txBody>
          <a:bodyPr/>
          <a:lstStyle/>
          <a:p>
            <a:endParaRPr lang="en-US"/>
          </a:p>
        </p:txBody>
      </p:sp>
      <p:sp>
        <p:nvSpPr>
          <p:cNvPr id="5" name="Text 3"/>
          <p:cNvSpPr/>
          <p:nvPr/>
        </p:nvSpPr>
        <p:spPr>
          <a:xfrm>
            <a:off x="320040" y="54864"/>
            <a:ext cx="8503920" cy="493776"/>
          </a:xfrm>
          <a:prstGeom prst="rect">
            <a:avLst/>
          </a:prstGeom>
          <a:noFill/>
          <a:ln/>
        </p:spPr>
        <p:txBody>
          <a:bodyPr wrap="square" lIns="0" tIns="0" rIns="0" bIns="0" rtlCol="0" anchor="ctr"/>
          <a:lstStyle/>
          <a:p>
            <a:pPr marL="0" indent="0" algn="l">
              <a:buNone/>
            </a:pPr>
            <a:r>
              <a:rPr lang="en-US" sz="2100" b="1">
                <a:solidFill>
                  <a:srgbClr val="FFFFFF"/>
                </a:solidFill>
                <a:latin typeface="Calibri" pitchFamily="34" charset="0"/>
                <a:ea typeface="Calibri" pitchFamily="34" charset="-122"/>
                <a:cs typeface="Calibri" pitchFamily="34" charset="-120"/>
              </a:rPr>
              <a:t>Problem Scope</a:t>
            </a:r>
            <a:endParaRPr lang="en-US" sz="2100"/>
          </a:p>
        </p:txBody>
      </p:sp>
      <p:sp>
        <p:nvSpPr>
          <p:cNvPr id="6" name="Text 4"/>
          <p:cNvSpPr/>
          <p:nvPr/>
        </p:nvSpPr>
        <p:spPr>
          <a:xfrm>
            <a:off x="274320" y="4782312"/>
            <a:ext cx="8595360" cy="274320"/>
          </a:xfrm>
          <a:prstGeom prst="rect">
            <a:avLst/>
          </a:prstGeom>
          <a:noFill/>
          <a:ln/>
        </p:spPr>
        <p:txBody>
          <a:bodyPr wrap="square" rtlCol="0" anchor="ctr"/>
          <a:lstStyle/>
          <a:p>
            <a:pPr marL="0" indent="0" algn="ctr">
              <a:buNone/>
            </a:pPr>
            <a:r>
              <a:rPr lang="en-US" sz="950" b="1">
                <a:solidFill>
                  <a:srgbClr val="111B35"/>
                </a:solidFill>
                <a:latin typeface="Calibri" pitchFamily="34" charset="0"/>
                <a:ea typeface="Calibri" pitchFamily="34" charset="-122"/>
                <a:cs typeface="Calibri" pitchFamily="34" charset="-120"/>
              </a:rPr>
              <a:t>COMP 3250  |  Group 8  |  University of Windsor  |  2026</a:t>
            </a:r>
            <a:endParaRPr lang="en-US" sz="950"/>
          </a:p>
        </p:txBody>
      </p:sp>
      <p:sp>
        <p:nvSpPr>
          <p:cNvPr id="7" name="Shape 5"/>
          <p:cNvSpPr/>
          <p:nvPr/>
        </p:nvSpPr>
        <p:spPr>
          <a:xfrm>
            <a:off x="256032" y="822960"/>
            <a:ext cx="5029200" cy="1115568"/>
          </a:xfrm>
          <a:prstGeom prst="rect">
            <a:avLst/>
          </a:prstGeom>
          <a:solidFill>
            <a:srgbClr val="FFFFFF"/>
          </a:solidFill>
          <a:ln w="12700">
            <a:solidFill>
              <a:srgbClr val="D0D5E0"/>
            </a:solidFill>
            <a:prstDash val="solid"/>
          </a:ln>
          <a:effectLst>
            <a:outerShdw blurRad="50800" dist="25400" dir="8100000" algn="bl" rotWithShape="0">
              <a:srgbClr val="000000">
                <a:alpha val="8000"/>
              </a:srgbClr>
            </a:outerShdw>
          </a:effectLst>
        </p:spPr>
        <p:txBody>
          <a:bodyPr/>
          <a:lstStyle/>
          <a:p>
            <a:endParaRPr lang="en-US"/>
          </a:p>
        </p:txBody>
      </p:sp>
      <p:sp>
        <p:nvSpPr>
          <p:cNvPr id="8" name="Shape 6"/>
          <p:cNvSpPr/>
          <p:nvPr/>
        </p:nvSpPr>
        <p:spPr>
          <a:xfrm>
            <a:off x="256032" y="822960"/>
            <a:ext cx="54864" cy="1115568"/>
          </a:xfrm>
          <a:prstGeom prst="rect">
            <a:avLst/>
          </a:prstGeom>
          <a:solidFill>
            <a:srgbClr val="B19231"/>
          </a:solidFill>
          <a:ln w="12700">
            <a:solidFill>
              <a:srgbClr val="B19231"/>
            </a:solidFill>
            <a:prstDash val="solid"/>
          </a:ln>
        </p:spPr>
        <p:txBody>
          <a:bodyPr/>
          <a:lstStyle/>
          <a:p>
            <a:endParaRPr lang="en-US"/>
          </a:p>
        </p:txBody>
      </p:sp>
      <p:sp>
        <p:nvSpPr>
          <p:cNvPr id="9" name="Text 7"/>
          <p:cNvSpPr/>
          <p:nvPr/>
        </p:nvSpPr>
        <p:spPr>
          <a:xfrm>
            <a:off x="402336" y="914400"/>
            <a:ext cx="4754880" cy="320040"/>
          </a:xfrm>
          <a:prstGeom prst="rect">
            <a:avLst/>
          </a:prstGeom>
          <a:noFill/>
          <a:ln/>
        </p:spPr>
        <p:txBody>
          <a:bodyPr wrap="square" rtlCol="0" anchor="ctr"/>
          <a:lstStyle/>
          <a:p>
            <a:pPr marL="0" indent="0">
              <a:buNone/>
            </a:pPr>
            <a:r>
              <a:rPr lang="en-US" sz="1400" b="1">
                <a:solidFill>
                  <a:srgbClr val="22345F"/>
                </a:solidFill>
                <a:latin typeface="Calibri" pitchFamily="34" charset="0"/>
                <a:ea typeface="Calibri" pitchFamily="34" charset="-122"/>
                <a:cs typeface="Calibri" pitchFamily="34" charset="-120"/>
              </a:rPr>
              <a:t>Too Much Data</a:t>
            </a:r>
            <a:endParaRPr lang="en-US" sz="1400"/>
          </a:p>
        </p:txBody>
      </p:sp>
      <p:sp>
        <p:nvSpPr>
          <p:cNvPr id="10" name="Text 8"/>
          <p:cNvSpPr/>
          <p:nvPr/>
        </p:nvSpPr>
        <p:spPr>
          <a:xfrm>
            <a:off x="402336" y="1261872"/>
            <a:ext cx="4754880" cy="594360"/>
          </a:xfrm>
          <a:prstGeom prst="rect">
            <a:avLst/>
          </a:prstGeom>
          <a:noFill/>
          <a:ln/>
        </p:spPr>
        <p:txBody>
          <a:bodyPr wrap="square" rtlCol="0" anchor="ctr"/>
          <a:lstStyle/>
          <a:p>
            <a:pPr marL="0" indent="0">
              <a:buNone/>
            </a:pPr>
            <a:r>
              <a:rPr lang="en-US" sz="1150">
                <a:solidFill>
                  <a:srgbClr val="333333"/>
                </a:solidFill>
                <a:latin typeface="Calibri" pitchFamily="34" charset="0"/>
                <a:ea typeface="Calibri" pitchFamily="34" charset="-122"/>
                <a:cs typeface="Calibri" pitchFamily="34" charset="-120"/>
              </a:rPr>
              <a:t>10 years of daily prices is thousands of rows. Spreadsheets can store it but cannot make sense of it.</a:t>
            </a:r>
            <a:endParaRPr lang="en-US" sz="1150"/>
          </a:p>
        </p:txBody>
      </p:sp>
      <p:sp>
        <p:nvSpPr>
          <p:cNvPr id="11" name="Shape 9"/>
          <p:cNvSpPr/>
          <p:nvPr/>
        </p:nvSpPr>
        <p:spPr>
          <a:xfrm>
            <a:off x="256032" y="2084832"/>
            <a:ext cx="5029200" cy="1115568"/>
          </a:xfrm>
          <a:prstGeom prst="rect">
            <a:avLst/>
          </a:prstGeom>
          <a:solidFill>
            <a:srgbClr val="FFFFFF"/>
          </a:solidFill>
          <a:ln w="12700">
            <a:solidFill>
              <a:srgbClr val="D0D5E0"/>
            </a:solidFill>
            <a:prstDash val="solid"/>
          </a:ln>
          <a:effectLst>
            <a:outerShdw blurRad="50800" dist="25400" dir="8100000" algn="bl" rotWithShape="0">
              <a:srgbClr val="000000">
                <a:alpha val="8000"/>
              </a:srgbClr>
            </a:outerShdw>
          </a:effectLst>
        </p:spPr>
        <p:txBody>
          <a:bodyPr/>
          <a:lstStyle/>
          <a:p>
            <a:endParaRPr lang="en-US"/>
          </a:p>
        </p:txBody>
      </p:sp>
      <p:sp>
        <p:nvSpPr>
          <p:cNvPr id="12" name="Shape 10"/>
          <p:cNvSpPr/>
          <p:nvPr/>
        </p:nvSpPr>
        <p:spPr>
          <a:xfrm>
            <a:off x="256032" y="2084832"/>
            <a:ext cx="54864" cy="1115568"/>
          </a:xfrm>
          <a:prstGeom prst="rect">
            <a:avLst/>
          </a:prstGeom>
          <a:solidFill>
            <a:srgbClr val="B19231"/>
          </a:solidFill>
          <a:ln w="12700">
            <a:solidFill>
              <a:srgbClr val="B19231"/>
            </a:solidFill>
            <a:prstDash val="solid"/>
          </a:ln>
        </p:spPr>
        <p:txBody>
          <a:bodyPr/>
          <a:lstStyle/>
          <a:p>
            <a:endParaRPr lang="en-US"/>
          </a:p>
        </p:txBody>
      </p:sp>
      <p:sp>
        <p:nvSpPr>
          <p:cNvPr id="13" name="Text 11"/>
          <p:cNvSpPr/>
          <p:nvPr/>
        </p:nvSpPr>
        <p:spPr>
          <a:xfrm>
            <a:off x="402336" y="2176272"/>
            <a:ext cx="4754880" cy="320040"/>
          </a:xfrm>
          <a:prstGeom prst="rect">
            <a:avLst/>
          </a:prstGeom>
          <a:noFill/>
          <a:ln/>
        </p:spPr>
        <p:txBody>
          <a:bodyPr wrap="square" rtlCol="0" anchor="ctr"/>
          <a:lstStyle/>
          <a:p>
            <a:pPr marL="0" indent="0">
              <a:buNone/>
            </a:pPr>
            <a:r>
              <a:rPr lang="en-US" sz="1400" b="1">
                <a:solidFill>
                  <a:srgbClr val="22345F"/>
                </a:solidFill>
                <a:latin typeface="Calibri" pitchFamily="34" charset="0"/>
                <a:ea typeface="Calibri" pitchFamily="34" charset="-122"/>
                <a:cs typeface="Calibri" pitchFamily="34" charset="-120"/>
              </a:rPr>
              <a:t>No Interactivity</a:t>
            </a:r>
            <a:endParaRPr lang="en-US" sz="1400"/>
          </a:p>
        </p:txBody>
      </p:sp>
      <p:sp>
        <p:nvSpPr>
          <p:cNvPr id="14" name="Text 12"/>
          <p:cNvSpPr/>
          <p:nvPr/>
        </p:nvSpPr>
        <p:spPr>
          <a:xfrm>
            <a:off x="402336" y="2523744"/>
            <a:ext cx="4754880" cy="594360"/>
          </a:xfrm>
          <a:prstGeom prst="rect">
            <a:avLst/>
          </a:prstGeom>
          <a:noFill/>
          <a:ln/>
        </p:spPr>
        <p:txBody>
          <a:bodyPr wrap="square" rtlCol="0" anchor="ctr"/>
          <a:lstStyle/>
          <a:p>
            <a:pPr marL="0" indent="0">
              <a:buNone/>
            </a:pPr>
            <a:r>
              <a:rPr lang="en-US" sz="1150">
                <a:solidFill>
                  <a:srgbClr val="333333"/>
                </a:solidFill>
                <a:latin typeface="Calibri" pitchFamily="34" charset="0"/>
                <a:ea typeface="Calibri" pitchFamily="34" charset="-122"/>
                <a:cs typeface="Calibri" pitchFamily="34" charset="-120"/>
              </a:rPr>
              <a:t>Static tables cannot filter by year, drill into quarters, or refresh KPIs when a selection changes.</a:t>
            </a:r>
            <a:endParaRPr lang="en-US" sz="1150"/>
          </a:p>
        </p:txBody>
      </p:sp>
      <p:sp>
        <p:nvSpPr>
          <p:cNvPr id="15" name="Shape 13"/>
          <p:cNvSpPr/>
          <p:nvPr/>
        </p:nvSpPr>
        <p:spPr>
          <a:xfrm>
            <a:off x="256032" y="3346704"/>
            <a:ext cx="5029200" cy="1115568"/>
          </a:xfrm>
          <a:prstGeom prst="rect">
            <a:avLst/>
          </a:prstGeom>
          <a:solidFill>
            <a:srgbClr val="FFFFFF"/>
          </a:solidFill>
          <a:ln w="12700">
            <a:solidFill>
              <a:srgbClr val="D0D5E0"/>
            </a:solidFill>
            <a:prstDash val="solid"/>
          </a:ln>
          <a:effectLst>
            <a:outerShdw blurRad="50800" dist="25400" dir="8100000" algn="bl" rotWithShape="0">
              <a:srgbClr val="000000">
                <a:alpha val="8000"/>
              </a:srgbClr>
            </a:outerShdw>
          </a:effectLst>
        </p:spPr>
        <p:txBody>
          <a:bodyPr/>
          <a:lstStyle/>
          <a:p>
            <a:endParaRPr lang="en-US"/>
          </a:p>
        </p:txBody>
      </p:sp>
      <p:sp>
        <p:nvSpPr>
          <p:cNvPr id="16" name="Shape 14"/>
          <p:cNvSpPr/>
          <p:nvPr/>
        </p:nvSpPr>
        <p:spPr>
          <a:xfrm>
            <a:off x="256032" y="3346704"/>
            <a:ext cx="54864" cy="1115568"/>
          </a:xfrm>
          <a:prstGeom prst="rect">
            <a:avLst/>
          </a:prstGeom>
          <a:solidFill>
            <a:srgbClr val="B19231"/>
          </a:solidFill>
          <a:ln w="12700">
            <a:solidFill>
              <a:srgbClr val="B19231"/>
            </a:solidFill>
            <a:prstDash val="solid"/>
          </a:ln>
        </p:spPr>
        <p:txBody>
          <a:bodyPr/>
          <a:lstStyle/>
          <a:p>
            <a:endParaRPr lang="en-US"/>
          </a:p>
        </p:txBody>
      </p:sp>
      <p:sp>
        <p:nvSpPr>
          <p:cNvPr id="17" name="Text 15"/>
          <p:cNvSpPr/>
          <p:nvPr/>
        </p:nvSpPr>
        <p:spPr>
          <a:xfrm>
            <a:off x="402336" y="3438144"/>
            <a:ext cx="4754880" cy="320040"/>
          </a:xfrm>
          <a:prstGeom prst="rect">
            <a:avLst/>
          </a:prstGeom>
          <a:noFill/>
          <a:ln/>
        </p:spPr>
        <p:txBody>
          <a:bodyPr wrap="square" rtlCol="0" anchor="ctr"/>
          <a:lstStyle/>
          <a:p>
            <a:pPr marL="0" indent="0">
              <a:buNone/>
            </a:pPr>
            <a:r>
              <a:rPr lang="en-US" sz="1400" b="1">
                <a:solidFill>
                  <a:srgbClr val="22345F"/>
                </a:solidFill>
                <a:latin typeface="Calibri" pitchFamily="34" charset="0"/>
                <a:ea typeface="Calibri" pitchFamily="34" charset="-122"/>
                <a:cs typeface="Calibri" pitchFamily="34" charset="-120"/>
              </a:rPr>
              <a:t>Missing Context</a:t>
            </a:r>
            <a:endParaRPr lang="en-US" sz="1400"/>
          </a:p>
        </p:txBody>
      </p:sp>
      <p:sp>
        <p:nvSpPr>
          <p:cNvPr id="18" name="Text 16"/>
          <p:cNvSpPr/>
          <p:nvPr/>
        </p:nvSpPr>
        <p:spPr>
          <a:xfrm>
            <a:off x="402336" y="3785616"/>
            <a:ext cx="4754880" cy="594360"/>
          </a:xfrm>
          <a:prstGeom prst="rect">
            <a:avLst/>
          </a:prstGeom>
          <a:noFill/>
          <a:ln/>
        </p:spPr>
        <p:txBody>
          <a:bodyPr wrap="square" rtlCol="0" anchor="ctr"/>
          <a:lstStyle/>
          <a:p>
            <a:pPr marL="0" indent="0">
              <a:buNone/>
            </a:pPr>
            <a:r>
              <a:rPr lang="en-US" sz="1150">
                <a:solidFill>
                  <a:srgbClr val="333333"/>
                </a:solidFill>
                <a:latin typeface="Calibri" pitchFamily="34" charset="0"/>
                <a:ea typeface="Calibri" pitchFamily="34" charset="-122"/>
                <a:cs typeface="Calibri" pitchFamily="34" charset="-120"/>
              </a:rPr>
              <a:t>Numbers alone do not show whether a 2022 price drop was unusual or expected given rising interest rates.</a:t>
            </a:r>
            <a:endParaRPr lang="en-US" sz="1150"/>
          </a:p>
        </p:txBody>
      </p:sp>
      <p:sp>
        <p:nvSpPr>
          <p:cNvPr id="19" name="Shape 17"/>
          <p:cNvSpPr/>
          <p:nvPr/>
        </p:nvSpPr>
        <p:spPr>
          <a:xfrm>
            <a:off x="5577840" y="822960"/>
            <a:ext cx="3291840" cy="1600200"/>
          </a:xfrm>
          <a:prstGeom prst="rect">
            <a:avLst/>
          </a:prstGeom>
          <a:solidFill>
            <a:srgbClr val="22345F"/>
          </a:solidFill>
          <a:ln w="12700">
            <a:solidFill>
              <a:srgbClr val="B19231"/>
            </a:solidFill>
            <a:prstDash val="solid"/>
          </a:ln>
        </p:spPr>
        <p:txBody>
          <a:bodyPr/>
          <a:lstStyle/>
          <a:p>
            <a:endParaRPr lang="en-US"/>
          </a:p>
        </p:txBody>
      </p:sp>
      <p:sp>
        <p:nvSpPr>
          <p:cNvPr id="20" name="Text 18"/>
          <p:cNvSpPr/>
          <p:nvPr/>
        </p:nvSpPr>
        <p:spPr>
          <a:xfrm>
            <a:off x="5577840" y="896112"/>
            <a:ext cx="3291840" cy="841248"/>
          </a:xfrm>
          <a:prstGeom prst="rect">
            <a:avLst/>
          </a:prstGeom>
          <a:noFill/>
          <a:ln/>
        </p:spPr>
        <p:txBody>
          <a:bodyPr wrap="square" rtlCol="0" anchor="ctr"/>
          <a:lstStyle/>
          <a:p>
            <a:pPr marL="0" indent="0" algn="ctr">
              <a:buNone/>
            </a:pPr>
            <a:r>
              <a:rPr lang="en-US" sz="5400" b="1">
                <a:solidFill>
                  <a:srgbClr val="D4AF50"/>
                </a:solidFill>
                <a:latin typeface="Calibri" pitchFamily="34" charset="0"/>
                <a:ea typeface="Calibri" pitchFamily="34" charset="-122"/>
                <a:cs typeface="Calibri" pitchFamily="34" charset="-120"/>
              </a:rPr>
              <a:t>~2,500</a:t>
            </a:r>
            <a:endParaRPr lang="en-US" sz="5400"/>
          </a:p>
        </p:txBody>
      </p:sp>
      <p:sp>
        <p:nvSpPr>
          <p:cNvPr id="21" name="Text 19"/>
          <p:cNvSpPr/>
          <p:nvPr/>
        </p:nvSpPr>
        <p:spPr>
          <a:xfrm>
            <a:off x="5577840" y="1682496"/>
            <a:ext cx="3291840" cy="512064"/>
          </a:xfrm>
          <a:prstGeom prst="rect">
            <a:avLst/>
          </a:prstGeom>
          <a:noFill/>
          <a:ln/>
        </p:spPr>
        <p:txBody>
          <a:bodyPr wrap="square" rtlCol="0" anchor="ctr"/>
          <a:lstStyle/>
          <a:p>
            <a:pPr marL="0" indent="0" algn="ctr">
              <a:buNone/>
            </a:pPr>
            <a:r>
              <a:rPr lang="en-US" sz="1200">
                <a:solidFill>
                  <a:srgbClr val="FFFFFF"/>
                </a:solidFill>
                <a:latin typeface="Calibri" pitchFamily="34" charset="0"/>
                <a:ea typeface="Calibri" pitchFamily="34" charset="-122"/>
                <a:cs typeface="Calibri" pitchFamily="34" charset="-120"/>
              </a:rPr>
              <a:t>daily data points</a:t>
            </a:r>
            <a:endParaRPr lang="en-US" sz="1200"/>
          </a:p>
          <a:p>
            <a:pPr marL="0" indent="0" algn="ctr">
              <a:buNone/>
            </a:pPr>
            <a:r>
              <a:rPr lang="en-US" sz="1200">
                <a:solidFill>
                  <a:srgbClr val="FFFFFF"/>
                </a:solidFill>
                <a:latin typeface="Calibri" pitchFamily="34" charset="0"/>
                <a:ea typeface="Calibri" pitchFamily="34" charset="-122"/>
                <a:cs typeface="Calibri" pitchFamily="34" charset="-120"/>
              </a:rPr>
              <a:t>2016 to 2026</a:t>
            </a:r>
            <a:endParaRPr lang="en-US" sz="1200"/>
          </a:p>
        </p:txBody>
      </p:sp>
      <p:sp>
        <p:nvSpPr>
          <p:cNvPr id="22" name="Shape 20"/>
          <p:cNvSpPr/>
          <p:nvPr/>
        </p:nvSpPr>
        <p:spPr>
          <a:xfrm>
            <a:off x="5577840" y="2633472"/>
            <a:ext cx="3291840" cy="1920240"/>
          </a:xfrm>
          <a:prstGeom prst="rect">
            <a:avLst/>
          </a:prstGeom>
          <a:solidFill>
            <a:srgbClr val="FFFFFF"/>
          </a:solidFill>
          <a:ln w="12700">
            <a:solidFill>
              <a:srgbClr val="B19231"/>
            </a:solidFill>
            <a:prstDash val="solid"/>
          </a:ln>
        </p:spPr>
        <p:txBody>
          <a:bodyPr/>
          <a:lstStyle/>
          <a:p>
            <a:endParaRPr lang="en-US"/>
          </a:p>
        </p:txBody>
      </p:sp>
      <p:sp>
        <p:nvSpPr>
          <p:cNvPr id="23" name="Shape 21"/>
          <p:cNvSpPr/>
          <p:nvPr/>
        </p:nvSpPr>
        <p:spPr>
          <a:xfrm>
            <a:off x="5577840" y="2633472"/>
            <a:ext cx="3291840" cy="64008"/>
          </a:xfrm>
          <a:prstGeom prst="rect">
            <a:avLst/>
          </a:prstGeom>
          <a:solidFill>
            <a:srgbClr val="B19231"/>
          </a:solidFill>
          <a:ln w="12700">
            <a:solidFill>
              <a:srgbClr val="B19231"/>
            </a:solidFill>
            <a:prstDash val="solid"/>
          </a:ln>
        </p:spPr>
        <p:txBody>
          <a:bodyPr/>
          <a:lstStyle/>
          <a:p>
            <a:endParaRPr lang="en-US"/>
          </a:p>
        </p:txBody>
      </p:sp>
      <p:sp>
        <p:nvSpPr>
          <p:cNvPr id="24" name="Text 22"/>
          <p:cNvSpPr/>
          <p:nvPr/>
        </p:nvSpPr>
        <p:spPr>
          <a:xfrm>
            <a:off x="5669280" y="2743200"/>
            <a:ext cx="3108960" cy="329184"/>
          </a:xfrm>
          <a:prstGeom prst="rect">
            <a:avLst/>
          </a:prstGeom>
          <a:noFill/>
          <a:ln/>
        </p:spPr>
        <p:txBody>
          <a:bodyPr wrap="square" rtlCol="0" anchor="ctr"/>
          <a:lstStyle/>
          <a:p>
            <a:pPr marL="0" indent="0">
              <a:buNone/>
            </a:pPr>
            <a:r>
              <a:rPr lang="en-US" sz="1300" b="1">
                <a:solidFill>
                  <a:srgbClr val="22345F"/>
                </a:solidFill>
                <a:latin typeface="Calibri" pitchFamily="34" charset="0"/>
                <a:ea typeface="Calibri" pitchFamily="34" charset="-122"/>
                <a:cs typeface="Calibri" pitchFamily="34" charset="-120"/>
              </a:rPr>
              <a:t>The Question</a:t>
            </a:r>
            <a:endParaRPr lang="en-US" sz="1300"/>
          </a:p>
        </p:txBody>
      </p:sp>
      <p:sp>
        <p:nvSpPr>
          <p:cNvPr id="25" name="Text 23"/>
          <p:cNvSpPr/>
          <p:nvPr/>
        </p:nvSpPr>
        <p:spPr>
          <a:xfrm>
            <a:off x="5669280" y="3127248"/>
            <a:ext cx="3090672" cy="1298448"/>
          </a:xfrm>
          <a:prstGeom prst="rect">
            <a:avLst/>
          </a:prstGeom>
          <a:noFill/>
          <a:ln/>
        </p:spPr>
        <p:txBody>
          <a:bodyPr wrap="square" rtlCol="0" anchor="ctr"/>
          <a:lstStyle/>
          <a:p>
            <a:pPr marL="0" indent="0">
              <a:buNone/>
            </a:pPr>
            <a:r>
              <a:rPr lang="en-US" sz="1200">
                <a:solidFill>
                  <a:srgbClr val="2C3E50"/>
                </a:solidFill>
                <a:latin typeface="Calibri" pitchFamily="34" charset="0"/>
                <a:ea typeface="Calibri" pitchFamily="34" charset="-122"/>
                <a:cs typeface="Calibri" pitchFamily="34" charset="-120"/>
              </a:rPr>
              <a:t>How do we turn a decade of gold price data into something an investor can use in minutes?</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B35"/>
        </a:solidFill>
        <a:effectLst/>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22345F"/>
          </a:solidFill>
          <a:ln w="12700">
            <a:solidFill>
              <a:srgbClr val="22345F"/>
            </a:solidFill>
            <a:prstDash val="solid"/>
          </a:ln>
        </p:spPr>
        <p:txBody>
          <a:bodyPr/>
          <a:lstStyle/>
          <a:p>
            <a:endParaRPr lang="en-US"/>
          </a:p>
        </p:txBody>
      </p:sp>
      <p:sp>
        <p:nvSpPr>
          <p:cNvPr id="3" name="Shape 1"/>
          <p:cNvSpPr/>
          <p:nvPr/>
        </p:nvSpPr>
        <p:spPr>
          <a:xfrm>
            <a:off x="0" y="603504"/>
            <a:ext cx="9144000" cy="54864"/>
          </a:xfrm>
          <a:prstGeom prst="rect">
            <a:avLst/>
          </a:prstGeom>
          <a:solidFill>
            <a:srgbClr val="B19231"/>
          </a:solidFill>
          <a:ln w="12700">
            <a:solidFill>
              <a:srgbClr val="B19231"/>
            </a:solidFill>
            <a:prstDash val="solid"/>
          </a:ln>
        </p:spPr>
        <p:txBody>
          <a:bodyPr/>
          <a:lstStyle/>
          <a:p>
            <a:endParaRPr lang="en-US"/>
          </a:p>
        </p:txBody>
      </p:sp>
      <p:sp>
        <p:nvSpPr>
          <p:cNvPr id="4" name="Shape 2"/>
          <p:cNvSpPr/>
          <p:nvPr/>
        </p:nvSpPr>
        <p:spPr>
          <a:xfrm>
            <a:off x="0" y="4754880"/>
            <a:ext cx="9144000" cy="388620"/>
          </a:xfrm>
          <a:prstGeom prst="rect">
            <a:avLst/>
          </a:prstGeom>
          <a:solidFill>
            <a:srgbClr val="B19231"/>
          </a:solidFill>
          <a:ln w="12700">
            <a:solidFill>
              <a:srgbClr val="B19231"/>
            </a:solidFill>
            <a:prstDash val="solid"/>
          </a:ln>
        </p:spPr>
        <p:txBody>
          <a:bodyPr/>
          <a:lstStyle/>
          <a:p>
            <a:endParaRPr lang="en-US"/>
          </a:p>
        </p:txBody>
      </p:sp>
      <p:sp>
        <p:nvSpPr>
          <p:cNvPr id="5" name="Text 3"/>
          <p:cNvSpPr/>
          <p:nvPr/>
        </p:nvSpPr>
        <p:spPr>
          <a:xfrm>
            <a:off x="320040" y="54864"/>
            <a:ext cx="8503920" cy="493776"/>
          </a:xfrm>
          <a:prstGeom prst="rect">
            <a:avLst/>
          </a:prstGeom>
          <a:noFill/>
          <a:ln/>
        </p:spPr>
        <p:txBody>
          <a:bodyPr wrap="square" lIns="0" tIns="0" rIns="0" bIns="0" rtlCol="0" anchor="ctr"/>
          <a:lstStyle/>
          <a:p>
            <a:pPr marL="0" indent="0" algn="l">
              <a:buNone/>
            </a:pPr>
            <a:r>
              <a:rPr lang="en-US" sz="2100" b="1">
                <a:solidFill>
                  <a:srgbClr val="FFFFFF"/>
                </a:solidFill>
                <a:latin typeface="Calibri" pitchFamily="34" charset="0"/>
                <a:ea typeface="Calibri" pitchFamily="34" charset="-122"/>
                <a:cs typeface="Calibri" pitchFamily="34" charset="-120"/>
              </a:rPr>
              <a:t>Our Solution: Power BI Dashboard  +  Live Demo</a:t>
            </a:r>
            <a:endParaRPr lang="en-US" sz="2100"/>
          </a:p>
        </p:txBody>
      </p:sp>
      <p:sp>
        <p:nvSpPr>
          <p:cNvPr id="6" name="Text 4"/>
          <p:cNvSpPr/>
          <p:nvPr/>
        </p:nvSpPr>
        <p:spPr>
          <a:xfrm>
            <a:off x="274320" y="4782312"/>
            <a:ext cx="8595360" cy="274320"/>
          </a:xfrm>
          <a:prstGeom prst="rect">
            <a:avLst/>
          </a:prstGeom>
          <a:noFill/>
          <a:ln/>
        </p:spPr>
        <p:txBody>
          <a:bodyPr wrap="square" rtlCol="0" anchor="ctr"/>
          <a:lstStyle/>
          <a:p>
            <a:pPr marL="0" indent="0" algn="ctr">
              <a:buNone/>
            </a:pPr>
            <a:r>
              <a:rPr lang="en-US" sz="950" b="1">
                <a:solidFill>
                  <a:srgbClr val="111B35"/>
                </a:solidFill>
                <a:latin typeface="Calibri" pitchFamily="34" charset="0"/>
                <a:ea typeface="Calibri" pitchFamily="34" charset="-122"/>
                <a:cs typeface="Calibri" pitchFamily="34" charset="-120"/>
              </a:rPr>
              <a:t>COMP 3250  |  Group 8  |  University of Windsor  |  2026</a:t>
            </a:r>
            <a:endParaRPr lang="en-US" sz="950"/>
          </a:p>
        </p:txBody>
      </p:sp>
      <p:sp>
        <p:nvSpPr>
          <p:cNvPr id="7" name="Shape 5"/>
          <p:cNvSpPr/>
          <p:nvPr/>
        </p:nvSpPr>
        <p:spPr>
          <a:xfrm>
            <a:off x="274320" y="804672"/>
            <a:ext cx="1901952" cy="1325880"/>
          </a:xfrm>
          <a:prstGeom prst="rect">
            <a:avLst/>
          </a:prstGeom>
          <a:solidFill>
            <a:srgbClr val="1C2B52"/>
          </a:solidFill>
          <a:ln w="12700">
            <a:solidFill>
              <a:srgbClr val="B19231"/>
            </a:solidFill>
            <a:prstDash val="solid"/>
          </a:ln>
        </p:spPr>
        <p:txBody>
          <a:bodyPr/>
          <a:lstStyle/>
          <a:p>
            <a:endParaRPr lang="en-US"/>
          </a:p>
        </p:txBody>
      </p:sp>
      <p:sp>
        <p:nvSpPr>
          <p:cNvPr id="8" name="Shape 6"/>
          <p:cNvSpPr/>
          <p:nvPr/>
        </p:nvSpPr>
        <p:spPr>
          <a:xfrm>
            <a:off x="978408" y="758952"/>
            <a:ext cx="502920" cy="502920"/>
          </a:xfrm>
          <a:prstGeom prst="ellipse">
            <a:avLst/>
          </a:prstGeom>
          <a:solidFill>
            <a:srgbClr val="B19231"/>
          </a:solidFill>
          <a:ln w="12700">
            <a:solidFill>
              <a:srgbClr val="B19231"/>
            </a:solidFill>
            <a:prstDash val="solid"/>
          </a:ln>
        </p:spPr>
        <p:txBody>
          <a:bodyPr/>
          <a:lstStyle/>
          <a:p>
            <a:endParaRPr lang="en-US"/>
          </a:p>
        </p:txBody>
      </p:sp>
      <p:sp>
        <p:nvSpPr>
          <p:cNvPr id="9" name="Text 7"/>
          <p:cNvSpPr/>
          <p:nvPr/>
        </p:nvSpPr>
        <p:spPr>
          <a:xfrm>
            <a:off x="978408" y="758952"/>
            <a:ext cx="502920" cy="502920"/>
          </a:xfrm>
          <a:prstGeom prst="rect">
            <a:avLst/>
          </a:prstGeom>
          <a:noFill/>
          <a:ln/>
        </p:spPr>
        <p:txBody>
          <a:bodyPr wrap="square" rtlCol="0" anchor="ctr"/>
          <a:lstStyle/>
          <a:p>
            <a:pPr marL="0" indent="0" algn="ctr">
              <a:buNone/>
            </a:pPr>
            <a:r>
              <a:rPr lang="en-US" sz="1400" b="1">
                <a:solidFill>
                  <a:srgbClr val="111B35"/>
                </a:solidFill>
                <a:latin typeface="Calibri" pitchFamily="34" charset="0"/>
                <a:ea typeface="Calibri" pitchFamily="34" charset="-122"/>
                <a:cs typeface="Calibri" pitchFamily="34" charset="-120"/>
              </a:rPr>
              <a:t>1</a:t>
            </a:r>
            <a:endParaRPr lang="en-US" sz="1400"/>
          </a:p>
        </p:txBody>
      </p:sp>
      <p:sp>
        <p:nvSpPr>
          <p:cNvPr id="10" name="Text 8"/>
          <p:cNvSpPr/>
          <p:nvPr/>
        </p:nvSpPr>
        <p:spPr>
          <a:xfrm>
            <a:off x="274320" y="1335024"/>
            <a:ext cx="1901952" cy="310896"/>
          </a:xfrm>
          <a:prstGeom prst="rect">
            <a:avLst/>
          </a:prstGeom>
          <a:noFill/>
          <a:ln/>
        </p:spPr>
        <p:txBody>
          <a:bodyPr wrap="square" rtlCol="0" anchor="ctr"/>
          <a:lstStyle/>
          <a:p>
            <a:pPr marL="0" indent="0" algn="ctr">
              <a:buNone/>
            </a:pPr>
            <a:r>
              <a:rPr lang="en-US" sz="1400" b="1">
                <a:solidFill>
                  <a:srgbClr val="D4AF50"/>
                </a:solidFill>
                <a:latin typeface="Calibri" pitchFamily="34" charset="0"/>
                <a:ea typeface="Calibri" pitchFamily="34" charset="-122"/>
                <a:cs typeface="Calibri" pitchFamily="34" charset="-120"/>
              </a:rPr>
              <a:t>Source</a:t>
            </a:r>
            <a:endParaRPr lang="en-US" sz="1400"/>
          </a:p>
        </p:txBody>
      </p:sp>
      <p:sp>
        <p:nvSpPr>
          <p:cNvPr id="11" name="Text 9"/>
          <p:cNvSpPr/>
          <p:nvPr/>
        </p:nvSpPr>
        <p:spPr>
          <a:xfrm>
            <a:off x="274320" y="1645920"/>
            <a:ext cx="1901952" cy="438912"/>
          </a:xfrm>
          <a:prstGeom prst="rect">
            <a:avLst/>
          </a:prstGeom>
          <a:noFill/>
          <a:ln/>
        </p:spPr>
        <p:txBody>
          <a:bodyPr wrap="square" rtlCol="0" anchor="ctr"/>
          <a:lstStyle/>
          <a:p>
            <a:pPr marL="0" indent="0" algn="ctr">
              <a:buNone/>
            </a:pPr>
            <a:r>
              <a:rPr lang="en-US" sz="1000">
                <a:solidFill>
                  <a:srgbClr val="C4CAD8"/>
                </a:solidFill>
                <a:latin typeface="Calibri" pitchFamily="34" charset="0"/>
                <a:ea typeface="Calibri" pitchFamily="34" charset="-122"/>
                <a:cs typeface="Calibri" pitchFamily="34" charset="-120"/>
              </a:rPr>
              <a:t>Kaggle CSV</a:t>
            </a:r>
            <a:endParaRPr lang="en-US" sz="1000"/>
          </a:p>
          <a:p>
            <a:pPr marL="0" indent="0" algn="ctr">
              <a:buNone/>
            </a:pPr>
            <a:r>
              <a:rPr lang="en-US" sz="1000">
                <a:solidFill>
                  <a:srgbClr val="C4CAD8"/>
                </a:solidFill>
                <a:latin typeface="Calibri" pitchFamily="34" charset="0"/>
                <a:ea typeface="Calibri" pitchFamily="34" charset="-122"/>
                <a:cs typeface="Calibri" pitchFamily="34" charset="-120"/>
              </a:rPr>
              <a:t>2016 to 2026</a:t>
            </a:r>
            <a:endParaRPr lang="en-US" sz="1000"/>
          </a:p>
        </p:txBody>
      </p:sp>
      <p:sp>
        <p:nvSpPr>
          <p:cNvPr id="12" name="Shape 10"/>
          <p:cNvSpPr/>
          <p:nvPr/>
        </p:nvSpPr>
        <p:spPr>
          <a:xfrm>
            <a:off x="2176272" y="1426464"/>
            <a:ext cx="274320" cy="54864"/>
          </a:xfrm>
          <a:prstGeom prst="rect">
            <a:avLst/>
          </a:prstGeom>
          <a:solidFill>
            <a:srgbClr val="B19231"/>
          </a:solidFill>
          <a:ln w="12700">
            <a:solidFill>
              <a:srgbClr val="B19231"/>
            </a:solidFill>
            <a:prstDash val="solid"/>
          </a:ln>
        </p:spPr>
        <p:txBody>
          <a:bodyPr/>
          <a:lstStyle/>
          <a:p>
            <a:endParaRPr lang="en-US"/>
          </a:p>
        </p:txBody>
      </p:sp>
      <p:sp>
        <p:nvSpPr>
          <p:cNvPr id="13" name="Shape 11"/>
          <p:cNvSpPr/>
          <p:nvPr/>
        </p:nvSpPr>
        <p:spPr>
          <a:xfrm>
            <a:off x="2450592" y="804672"/>
            <a:ext cx="1901952" cy="1325880"/>
          </a:xfrm>
          <a:prstGeom prst="rect">
            <a:avLst/>
          </a:prstGeom>
          <a:solidFill>
            <a:srgbClr val="1C2B52"/>
          </a:solidFill>
          <a:ln w="12700">
            <a:solidFill>
              <a:srgbClr val="B19231"/>
            </a:solidFill>
            <a:prstDash val="solid"/>
          </a:ln>
        </p:spPr>
        <p:txBody>
          <a:bodyPr/>
          <a:lstStyle/>
          <a:p>
            <a:endParaRPr lang="en-US"/>
          </a:p>
        </p:txBody>
      </p:sp>
      <p:sp>
        <p:nvSpPr>
          <p:cNvPr id="14" name="Shape 12"/>
          <p:cNvSpPr/>
          <p:nvPr/>
        </p:nvSpPr>
        <p:spPr>
          <a:xfrm>
            <a:off x="3154680" y="758952"/>
            <a:ext cx="502920" cy="502920"/>
          </a:xfrm>
          <a:prstGeom prst="ellipse">
            <a:avLst/>
          </a:prstGeom>
          <a:solidFill>
            <a:srgbClr val="B19231"/>
          </a:solidFill>
          <a:ln w="12700">
            <a:solidFill>
              <a:srgbClr val="B19231"/>
            </a:solidFill>
            <a:prstDash val="solid"/>
          </a:ln>
        </p:spPr>
        <p:txBody>
          <a:bodyPr/>
          <a:lstStyle/>
          <a:p>
            <a:endParaRPr lang="en-US"/>
          </a:p>
        </p:txBody>
      </p:sp>
      <p:sp>
        <p:nvSpPr>
          <p:cNvPr id="15" name="Text 13"/>
          <p:cNvSpPr/>
          <p:nvPr/>
        </p:nvSpPr>
        <p:spPr>
          <a:xfrm>
            <a:off x="3154680" y="758952"/>
            <a:ext cx="502920" cy="502920"/>
          </a:xfrm>
          <a:prstGeom prst="rect">
            <a:avLst/>
          </a:prstGeom>
          <a:noFill/>
          <a:ln/>
        </p:spPr>
        <p:txBody>
          <a:bodyPr wrap="square" rtlCol="0" anchor="ctr"/>
          <a:lstStyle/>
          <a:p>
            <a:pPr marL="0" indent="0" algn="ctr">
              <a:buNone/>
            </a:pPr>
            <a:r>
              <a:rPr lang="en-US" sz="1400" b="1">
                <a:solidFill>
                  <a:srgbClr val="111B35"/>
                </a:solidFill>
                <a:latin typeface="Calibri" pitchFamily="34" charset="0"/>
                <a:ea typeface="Calibri" pitchFamily="34" charset="-122"/>
                <a:cs typeface="Calibri" pitchFamily="34" charset="-120"/>
              </a:rPr>
              <a:t>2</a:t>
            </a:r>
            <a:endParaRPr lang="en-US" sz="1400"/>
          </a:p>
        </p:txBody>
      </p:sp>
      <p:sp>
        <p:nvSpPr>
          <p:cNvPr id="16" name="Text 14"/>
          <p:cNvSpPr/>
          <p:nvPr/>
        </p:nvSpPr>
        <p:spPr>
          <a:xfrm>
            <a:off x="2450592" y="1335024"/>
            <a:ext cx="1901952" cy="310896"/>
          </a:xfrm>
          <a:prstGeom prst="rect">
            <a:avLst/>
          </a:prstGeom>
          <a:noFill/>
          <a:ln/>
        </p:spPr>
        <p:txBody>
          <a:bodyPr wrap="square" rtlCol="0" anchor="ctr"/>
          <a:lstStyle/>
          <a:p>
            <a:pPr marL="0" indent="0" algn="ctr">
              <a:buNone/>
            </a:pPr>
            <a:r>
              <a:rPr lang="en-US" sz="1400" b="1">
                <a:solidFill>
                  <a:srgbClr val="D4AF50"/>
                </a:solidFill>
                <a:latin typeface="Calibri" pitchFamily="34" charset="0"/>
                <a:ea typeface="Calibri" pitchFamily="34" charset="-122"/>
                <a:cs typeface="Calibri" pitchFamily="34" charset="-120"/>
              </a:rPr>
              <a:t>Validate</a:t>
            </a:r>
            <a:endParaRPr lang="en-US" sz="1400"/>
          </a:p>
        </p:txBody>
      </p:sp>
      <p:sp>
        <p:nvSpPr>
          <p:cNvPr id="17" name="Text 15"/>
          <p:cNvSpPr/>
          <p:nvPr/>
        </p:nvSpPr>
        <p:spPr>
          <a:xfrm>
            <a:off x="2450592" y="1645920"/>
            <a:ext cx="1901952" cy="438912"/>
          </a:xfrm>
          <a:prstGeom prst="rect">
            <a:avLst/>
          </a:prstGeom>
          <a:noFill/>
          <a:ln/>
        </p:spPr>
        <p:txBody>
          <a:bodyPr wrap="square" rtlCol="0" anchor="ctr"/>
          <a:lstStyle/>
          <a:p>
            <a:pPr marL="0" indent="0" algn="ctr">
              <a:buNone/>
            </a:pPr>
            <a:r>
              <a:rPr lang="en-US" sz="1000">
                <a:solidFill>
                  <a:srgbClr val="C4CAD8"/>
                </a:solidFill>
                <a:latin typeface="Calibri" pitchFamily="34" charset="0"/>
                <a:ea typeface="Calibri" pitchFamily="34" charset="-122"/>
                <a:cs typeface="Calibri" pitchFamily="34" charset="-120"/>
              </a:rPr>
              <a:t>Yahoo Finance</a:t>
            </a:r>
            <a:endParaRPr lang="en-US" sz="1000"/>
          </a:p>
          <a:p>
            <a:pPr marL="0" indent="0" algn="ctr">
              <a:buNone/>
            </a:pPr>
            <a:r>
              <a:rPr lang="en-US" sz="1000">
                <a:solidFill>
                  <a:srgbClr val="C4CAD8"/>
                </a:solidFill>
                <a:latin typeface="Calibri" pitchFamily="34" charset="0"/>
                <a:ea typeface="Calibri" pitchFamily="34" charset="-122"/>
                <a:cs typeface="Calibri" pitchFamily="34" charset="-120"/>
              </a:rPr>
              <a:t>GC=F ticker</a:t>
            </a:r>
            <a:endParaRPr lang="en-US" sz="1000"/>
          </a:p>
        </p:txBody>
      </p:sp>
      <p:sp>
        <p:nvSpPr>
          <p:cNvPr id="18" name="Shape 16"/>
          <p:cNvSpPr/>
          <p:nvPr/>
        </p:nvSpPr>
        <p:spPr>
          <a:xfrm>
            <a:off x="4352544" y="1426464"/>
            <a:ext cx="274320" cy="54864"/>
          </a:xfrm>
          <a:prstGeom prst="rect">
            <a:avLst/>
          </a:prstGeom>
          <a:solidFill>
            <a:srgbClr val="B19231"/>
          </a:solidFill>
          <a:ln w="12700">
            <a:solidFill>
              <a:srgbClr val="B19231"/>
            </a:solidFill>
            <a:prstDash val="solid"/>
          </a:ln>
        </p:spPr>
        <p:txBody>
          <a:bodyPr/>
          <a:lstStyle/>
          <a:p>
            <a:endParaRPr lang="en-US"/>
          </a:p>
        </p:txBody>
      </p:sp>
      <p:sp>
        <p:nvSpPr>
          <p:cNvPr id="19" name="Shape 17"/>
          <p:cNvSpPr/>
          <p:nvPr/>
        </p:nvSpPr>
        <p:spPr>
          <a:xfrm>
            <a:off x="4626864" y="804672"/>
            <a:ext cx="1901952" cy="1325880"/>
          </a:xfrm>
          <a:prstGeom prst="rect">
            <a:avLst/>
          </a:prstGeom>
          <a:solidFill>
            <a:srgbClr val="1C2B52"/>
          </a:solidFill>
          <a:ln w="12700">
            <a:solidFill>
              <a:srgbClr val="B19231"/>
            </a:solidFill>
            <a:prstDash val="solid"/>
          </a:ln>
        </p:spPr>
        <p:txBody>
          <a:bodyPr/>
          <a:lstStyle/>
          <a:p>
            <a:endParaRPr lang="en-US"/>
          </a:p>
        </p:txBody>
      </p:sp>
      <p:sp>
        <p:nvSpPr>
          <p:cNvPr id="20" name="Shape 18"/>
          <p:cNvSpPr/>
          <p:nvPr/>
        </p:nvSpPr>
        <p:spPr>
          <a:xfrm>
            <a:off x="5330952" y="758952"/>
            <a:ext cx="502920" cy="502920"/>
          </a:xfrm>
          <a:prstGeom prst="ellipse">
            <a:avLst/>
          </a:prstGeom>
          <a:solidFill>
            <a:srgbClr val="B19231"/>
          </a:solidFill>
          <a:ln w="12700">
            <a:solidFill>
              <a:srgbClr val="B19231"/>
            </a:solidFill>
            <a:prstDash val="solid"/>
          </a:ln>
        </p:spPr>
        <p:txBody>
          <a:bodyPr/>
          <a:lstStyle/>
          <a:p>
            <a:endParaRPr lang="en-US"/>
          </a:p>
        </p:txBody>
      </p:sp>
      <p:sp>
        <p:nvSpPr>
          <p:cNvPr id="21" name="Text 19"/>
          <p:cNvSpPr/>
          <p:nvPr/>
        </p:nvSpPr>
        <p:spPr>
          <a:xfrm>
            <a:off x="5330952" y="758952"/>
            <a:ext cx="502920" cy="502920"/>
          </a:xfrm>
          <a:prstGeom prst="rect">
            <a:avLst/>
          </a:prstGeom>
          <a:noFill/>
          <a:ln/>
        </p:spPr>
        <p:txBody>
          <a:bodyPr wrap="square" rtlCol="0" anchor="ctr"/>
          <a:lstStyle/>
          <a:p>
            <a:pPr marL="0" indent="0" algn="ctr">
              <a:buNone/>
            </a:pPr>
            <a:r>
              <a:rPr lang="en-US" sz="1400" b="1">
                <a:solidFill>
                  <a:srgbClr val="111B35"/>
                </a:solidFill>
                <a:latin typeface="Calibri" pitchFamily="34" charset="0"/>
                <a:ea typeface="Calibri" pitchFamily="34" charset="-122"/>
                <a:cs typeface="Calibri" pitchFamily="34" charset="-120"/>
              </a:rPr>
              <a:t>3</a:t>
            </a:r>
            <a:endParaRPr lang="en-US" sz="1400"/>
          </a:p>
        </p:txBody>
      </p:sp>
      <p:sp>
        <p:nvSpPr>
          <p:cNvPr id="22" name="Text 20"/>
          <p:cNvSpPr/>
          <p:nvPr/>
        </p:nvSpPr>
        <p:spPr>
          <a:xfrm>
            <a:off x="4626864" y="1335024"/>
            <a:ext cx="1901952" cy="310896"/>
          </a:xfrm>
          <a:prstGeom prst="rect">
            <a:avLst/>
          </a:prstGeom>
          <a:noFill/>
          <a:ln/>
        </p:spPr>
        <p:txBody>
          <a:bodyPr wrap="square" rtlCol="0" anchor="ctr"/>
          <a:lstStyle/>
          <a:p>
            <a:pPr marL="0" indent="0" algn="ctr">
              <a:buNone/>
            </a:pPr>
            <a:r>
              <a:rPr lang="en-US" sz="1400" b="1">
                <a:solidFill>
                  <a:srgbClr val="D4AF50"/>
                </a:solidFill>
                <a:latin typeface="Calibri" pitchFamily="34" charset="0"/>
                <a:ea typeface="Calibri" pitchFamily="34" charset="-122"/>
                <a:cs typeface="Calibri" pitchFamily="34" charset="-120"/>
              </a:rPr>
              <a:t>Model</a:t>
            </a:r>
            <a:endParaRPr lang="en-US" sz="1400"/>
          </a:p>
        </p:txBody>
      </p:sp>
      <p:sp>
        <p:nvSpPr>
          <p:cNvPr id="23" name="Text 21"/>
          <p:cNvSpPr/>
          <p:nvPr/>
        </p:nvSpPr>
        <p:spPr>
          <a:xfrm>
            <a:off x="4626864" y="1645920"/>
            <a:ext cx="1901952" cy="438912"/>
          </a:xfrm>
          <a:prstGeom prst="rect">
            <a:avLst/>
          </a:prstGeom>
          <a:noFill/>
          <a:ln/>
        </p:spPr>
        <p:txBody>
          <a:bodyPr wrap="square" rtlCol="0" anchor="ctr"/>
          <a:lstStyle/>
          <a:p>
            <a:pPr marL="0" indent="0" algn="ctr">
              <a:buNone/>
            </a:pPr>
            <a:r>
              <a:rPr lang="en-US" sz="1000">
                <a:solidFill>
                  <a:srgbClr val="C4CAD8"/>
                </a:solidFill>
                <a:latin typeface="Calibri" pitchFamily="34" charset="0"/>
                <a:ea typeface="Calibri" pitchFamily="34" charset="-122"/>
                <a:cs typeface="Calibri" pitchFamily="34" charset="-120"/>
              </a:rPr>
              <a:t>DAX measures</a:t>
            </a:r>
            <a:endParaRPr lang="en-US" sz="1000"/>
          </a:p>
          <a:p>
            <a:pPr marL="0" indent="0" algn="ctr">
              <a:buNone/>
            </a:pPr>
            <a:r>
              <a:rPr lang="en-US" sz="1000">
                <a:solidFill>
                  <a:srgbClr val="C4CAD8"/>
                </a:solidFill>
                <a:latin typeface="Calibri" pitchFamily="34" charset="0"/>
                <a:ea typeface="Calibri" pitchFamily="34" charset="-122"/>
                <a:cs typeface="Calibri" pitchFamily="34" charset="-120"/>
              </a:rPr>
              <a:t>Direct-Logic</a:t>
            </a:r>
            <a:endParaRPr lang="en-US" sz="1000"/>
          </a:p>
        </p:txBody>
      </p:sp>
      <p:sp>
        <p:nvSpPr>
          <p:cNvPr id="24" name="Shape 22"/>
          <p:cNvSpPr/>
          <p:nvPr/>
        </p:nvSpPr>
        <p:spPr>
          <a:xfrm>
            <a:off x="6528816" y="1426464"/>
            <a:ext cx="274320" cy="54864"/>
          </a:xfrm>
          <a:prstGeom prst="rect">
            <a:avLst/>
          </a:prstGeom>
          <a:solidFill>
            <a:srgbClr val="B19231"/>
          </a:solidFill>
          <a:ln w="12700">
            <a:solidFill>
              <a:srgbClr val="B19231"/>
            </a:solidFill>
            <a:prstDash val="solid"/>
          </a:ln>
        </p:spPr>
        <p:txBody>
          <a:bodyPr/>
          <a:lstStyle/>
          <a:p>
            <a:endParaRPr lang="en-US"/>
          </a:p>
        </p:txBody>
      </p:sp>
      <p:sp>
        <p:nvSpPr>
          <p:cNvPr id="25" name="Shape 23"/>
          <p:cNvSpPr/>
          <p:nvPr/>
        </p:nvSpPr>
        <p:spPr>
          <a:xfrm>
            <a:off x="6803136" y="804672"/>
            <a:ext cx="1901952" cy="1325880"/>
          </a:xfrm>
          <a:prstGeom prst="rect">
            <a:avLst/>
          </a:prstGeom>
          <a:solidFill>
            <a:srgbClr val="1C2B52"/>
          </a:solidFill>
          <a:ln w="12700">
            <a:solidFill>
              <a:srgbClr val="B19231"/>
            </a:solidFill>
            <a:prstDash val="solid"/>
          </a:ln>
        </p:spPr>
        <p:txBody>
          <a:bodyPr/>
          <a:lstStyle/>
          <a:p>
            <a:endParaRPr lang="en-US"/>
          </a:p>
        </p:txBody>
      </p:sp>
      <p:sp>
        <p:nvSpPr>
          <p:cNvPr id="26" name="Shape 24"/>
          <p:cNvSpPr/>
          <p:nvPr/>
        </p:nvSpPr>
        <p:spPr>
          <a:xfrm>
            <a:off x="7507224" y="758952"/>
            <a:ext cx="502920" cy="502920"/>
          </a:xfrm>
          <a:prstGeom prst="ellipse">
            <a:avLst/>
          </a:prstGeom>
          <a:solidFill>
            <a:srgbClr val="B19231"/>
          </a:solidFill>
          <a:ln w="12700">
            <a:solidFill>
              <a:srgbClr val="B19231"/>
            </a:solidFill>
            <a:prstDash val="solid"/>
          </a:ln>
        </p:spPr>
        <p:txBody>
          <a:bodyPr/>
          <a:lstStyle/>
          <a:p>
            <a:endParaRPr lang="en-US"/>
          </a:p>
        </p:txBody>
      </p:sp>
      <p:sp>
        <p:nvSpPr>
          <p:cNvPr id="27" name="Text 25"/>
          <p:cNvSpPr/>
          <p:nvPr/>
        </p:nvSpPr>
        <p:spPr>
          <a:xfrm>
            <a:off x="7507224" y="758952"/>
            <a:ext cx="502920" cy="502920"/>
          </a:xfrm>
          <a:prstGeom prst="rect">
            <a:avLst/>
          </a:prstGeom>
          <a:noFill/>
          <a:ln/>
        </p:spPr>
        <p:txBody>
          <a:bodyPr wrap="square" rtlCol="0" anchor="ctr"/>
          <a:lstStyle/>
          <a:p>
            <a:pPr marL="0" indent="0" algn="ctr">
              <a:buNone/>
            </a:pPr>
            <a:r>
              <a:rPr lang="en-US" sz="1400" b="1">
                <a:solidFill>
                  <a:srgbClr val="111B35"/>
                </a:solidFill>
                <a:latin typeface="Calibri" pitchFamily="34" charset="0"/>
                <a:ea typeface="Calibri" pitchFamily="34" charset="-122"/>
                <a:cs typeface="Calibri" pitchFamily="34" charset="-120"/>
              </a:rPr>
              <a:t>4</a:t>
            </a:r>
            <a:endParaRPr lang="en-US" sz="1400"/>
          </a:p>
        </p:txBody>
      </p:sp>
      <p:sp>
        <p:nvSpPr>
          <p:cNvPr id="28" name="Text 26"/>
          <p:cNvSpPr/>
          <p:nvPr/>
        </p:nvSpPr>
        <p:spPr>
          <a:xfrm>
            <a:off x="6803136" y="1335024"/>
            <a:ext cx="1901952" cy="310896"/>
          </a:xfrm>
          <a:prstGeom prst="rect">
            <a:avLst/>
          </a:prstGeom>
          <a:noFill/>
          <a:ln/>
        </p:spPr>
        <p:txBody>
          <a:bodyPr wrap="square" rtlCol="0" anchor="ctr"/>
          <a:lstStyle/>
          <a:p>
            <a:pPr marL="0" indent="0" algn="ctr">
              <a:buNone/>
            </a:pPr>
            <a:r>
              <a:rPr lang="en-US" sz="1400" b="1">
                <a:solidFill>
                  <a:srgbClr val="D4AF50"/>
                </a:solidFill>
                <a:latin typeface="Calibri" pitchFamily="34" charset="0"/>
                <a:ea typeface="Calibri" pitchFamily="34" charset="-122"/>
                <a:cs typeface="Calibri" pitchFamily="34" charset="-120"/>
              </a:rPr>
              <a:t>Visualize</a:t>
            </a:r>
            <a:endParaRPr lang="en-US" sz="1400"/>
          </a:p>
        </p:txBody>
      </p:sp>
      <p:sp>
        <p:nvSpPr>
          <p:cNvPr id="29" name="Text 27"/>
          <p:cNvSpPr/>
          <p:nvPr/>
        </p:nvSpPr>
        <p:spPr>
          <a:xfrm>
            <a:off x="6803136" y="1645920"/>
            <a:ext cx="1901952" cy="438912"/>
          </a:xfrm>
          <a:prstGeom prst="rect">
            <a:avLst/>
          </a:prstGeom>
          <a:noFill/>
          <a:ln/>
        </p:spPr>
        <p:txBody>
          <a:bodyPr wrap="square" rtlCol="0" anchor="ctr"/>
          <a:lstStyle/>
          <a:p>
            <a:pPr marL="0" indent="0" algn="ctr">
              <a:buNone/>
            </a:pPr>
            <a:r>
              <a:rPr lang="en-US" sz="1000">
                <a:solidFill>
                  <a:srgbClr val="C4CAD8"/>
                </a:solidFill>
                <a:latin typeface="Calibri" pitchFamily="34" charset="0"/>
                <a:ea typeface="Calibri" pitchFamily="34" charset="-122"/>
                <a:cs typeface="Calibri" pitchFamily="34" charset="-120"/>
              </a:rPr>
              <a:t>Slicers &amp; drill-</a:t>
            </a:r>
            <a:endParaRPr lang="en-US" sz="1000"/>
          </a:p>
          <a:p>
            <a:pPr marL="0" indent="0" algn="ctr">
              <a:buNone/>
            </a:pPr>
            <a:r>
              <a:rPr lang="en-US" sz="1000">
                <a:solidFill>
                  <a:srgbClr val="C4CAD8"/>
                </a:solidFill>
                <a:latin typeface="Calibri" pitchFamily="34" charset="0"/>
                <a:ea typeface="Calibri" pitchFamily="34" charset="-122"/>
                <a:cs typeface="Calibri" pitchFamily="34" charset="-120"/>
              </a:rPr>
              <a:t>down charts</a:t>
            </a:r>
            <a:endParaRPr lang="en-US" sz="1000"/>
          </a:p>
        </p:txBody>
      </p:sp>
      <p:sp>
        <p:nvSpPr>
          <p:cNvPr id="30" name="Shape 28"/>
          <p:cNvSpPr/>
          <p:nvPr/>
        </p:nvSpPr>
        <p:spPr>
          <a:xfrm>
            <a:off x="274320" y="2359152"/>
            <a:ext cx="2788920" cy="2194560"/>
          </a:xfrm>
          <a:prstGeom prst="rect">
            <a:avLst/>
          </a:prstGeom>
          <a:solidFill>
            <a:srgbClr val="1C2B52"/>
          </a:solidFill>
          <a:ln w="12700">
            <a:solidFill>
              <a:srgbClr val="3A5080"/>
            </a:solidFill>
            <a:prstDash val="solid"/>
          </a:ln>
        </p:spPr>
        <p:txBody>
          <a:bodyPr/>
          <a:lstStyle/>
          <a:p>
            <a:endParaRPr lang="en-US"/>
          </a:p>
        </p:txBody>
      </p:sp>
      <p:sp>
        <p:nvSpPr>
          <p:cNvPr id="31" name="Shape 29"/>
          <p:cNvSpPr/>
          <p:nvPr/>
        </p:nvSpPr>
        <p:spPr>
          <a:xfrm>
            <a:off x="274320" y="2359152"/>
            <a:ext cx="2788920" cy="64008"/>
          </a:xfrm>
          <a:prstGeom prst="rect">
            <a:avLst/>
          </a:prstGeom>
          <a:solidFill>
            <a:srgbClr val="B19231"/>
          </a:solidFill>
          <a:ln w="12700">
            <a:solidFill>
              <a:srgbClr val="B19231"/>
            </a:solidFill>
            <a:prstDash val="solid"/>
          </a:ln>
        </p:spPr>
        <p:txBody>
          <a:bodyPr/>
          <a:lstStyle/>
          <a:p>
            <a:endParaRPr lang="en-US"/>
          </a:p>
        </p:txBody>
      </p:sp>
      <p:sp>
        <p:nvSpPr>
          <p:cNvPr id="32" name="Text 30"/>
          <p:cNvSpPr/>
          <p:nvPr/>
        </p:nvSpPr>
        <p:spPr>
          <a:xfrm>
            <a:off x="384048" y="2468880"/>
            <a:ext cx="2578608" cy="365760"/>
          </a:xfrm>
          <a:prstGeom prst="rect">
            <a:avLst/>
          </a:prstGeom>
          <a:noFill/>
          <a:ln/>
        </p:spPr>
        <p:txBody>
          <a:bodyPr wrap="square" rtlCol="0" anchor="ctr"/>
          <a:lstStyle/>
          <a:p>
            <a:pPr marL="0" indent="0">
              <a:buNone/>
            </a:pPr>
            <a:r>
              <a:rPr lang="en-US" sz="1200" b="1">
                <a:solidFill>
                  <a:srgbClr val="D4AF50"/>
                </a:solidFill>
                <a:latin typeface="Calibri" pitchFamily="34" charset="0"/>
                <a:ea typeface="Calibri" pitchFamily="34" charset="-122"/>
                <a:cs typeface="Calibri" pitchFamily="34" charset="-120"/>
              </a:rPr>
              <a:t>30-Day Moving Average</a:t>
            </a:r>
            <a:endParaRPr lang="en-US" sz="1200"/>
          </a:p>
        </p:txBody>
      </p:sp>
      <p:sp>
        <p:nvSpPr>
          <p:cNvPr id="33" name="Shape 31"/>
          <p:cNvSpPr/>
          <p:nvPr/>
        </p:nvSpPr>
        <p:spPr>
          <a:xfrm>
            <a:off x="384048" y="2880360"/>
            <a:ext cx="2578608" cy="274320"/>
          </a:xfrm>
          <a:prstGeom prst="rect">
            <a:avLst/>
          </a:prstGeom>
          <a:solidFill>
            <a:srgbClr val="111B35"/>
          </a:solidFill>
          <a:ln w="12700">
            <a:solidFill>
              <a:srgbClr val="111B35"/>
            </a:solidFill>
            <a:prstDash val="solid"/>
          </a:ln>
        </p:spPr>
        <p:txBody>
          <a:bodyPr/>
          <a:lstStyle/>
          <a:p>
            <a:endParaRPr lang="en-US"/>
          </a:p>
        </p:txBody>
      </p:sp>
      <p:sp>
        <p:nvSpPr>
          <p:cNvPr id="34" name="Text 32"/>
          <p:cNvSpPr/>
          <p:nvPr/>
        </p:nvSpPr>
        <p:spPr>
          <a:xfrm>
            <a:off x="402336" y="2880360"/>
            <a:ext cx="2542032" cy="274320"/>
          </a:xfrm>
          <a:prstGeom prst="rect">
            <a:avLst/>
          </a:prstGeom>
          <a:noFill/>
          <a:ln/>
        </p:spPr>
        <p:txBody>
          <a:bodyPr wrap="square" rtlCol="0" anchor="ctr"/>
          <a:lstStyle/>
          <a:p>
            <a:pPr marL="0" indent="0">
              <a:buNone/>
            </a:pPr>
            <a:r>
              <a:rPr lang="en-US" sz="900" i="1">
                <a:solidFill>
                  <a:srgbClr val="EAD897"/>
                </a:solidFill>
                <a:latin typeface="Calibri" pitchFamily="34" charset="0"/>
                <a:ea typeface="Calibri" pitchFamily="34" charset="-122"/>
                <a:cs typeface="Calibri" pitchFamily="34" charset="-120"/>
              </a:rPr>
              <a:t>avg of last 30 close prices</a:t>
            </a:r>
            <a:endParaRPr lang="en-US" sz="900"/>
          </a:p>
        </p:txBody>
      </p:sp>
      <p:sp>
        <p:nvSpPr>
          <p:cNvPr id="35" name="Text 33"/>
          <p:cNvSpPr/>
          <p:nvPr/>
        </p:nvSpPr>
        <p:spPr>
          <a:xfrm>
            <a:off x="384048" y="3218688"/>
            <a:ext cx="2578608" cy="1234440"/>
          </a:xfrm>
          <a:prstGeom prst="rect">
            <a:avLst/>
          </a:prstGeom>
          <a:noFill/>
          <a:ln/>
        </p:spPr>
        <p:txBody>
          <a:bodyPr wrap="square" rtlCol="0" anchor="ctr"/>
          <a:lstStyle/>
          <a:p>
            <a:pPr marL="0" indent="0">
              <a:buNone/>
            </a:pPr>
            <a:r>
              <a:rPr lang="en-US" sz="1150">
                <a:solidFill>
                  <a:srgbClr val="FFFFFF"/>
                </a:solidFill>
                <a:latin typeface="Calibri" pitchFamily="34" charset="0"/>
                <a:ea typeface="Calibri" pitchFamily="34" charset="-122"/>
                <a:cs typeface="Calibri" pitchFamily="34" charset="-120"/>
              </a:rPr>
              <a:t>Removes daily noise to show the market's real direction.</a:t>
            </a:r>
            <a:endParaRPr lang="en-US" sz="1150"/>
          </a:p>
        </p:txBody>
      </p:sp>
      <p:sp>
        <p:nvSpPr>
          <p:cNvPr id="36" name="Shape 34"/>
          <p:cNvSpPr/>
          <p:nvPr/>
        </p:nvSpPr>
        <p:spPr>
          <a:xfrm>
            <a:off x="3172968" y="2359152"/>
            <a:ext cx="2788920" cy="2194560"/>
          </a:xfrm>
          <a:prstGeom prst="rect">
            <a:avLst/>
          </a:prstGeom>
          <a:solidFill>
            <a:srgbClr val="1C2B52"/>
          </a:solidFill>
          <a:ln w="12700">
            <a:solidFill>
              <a:srgbClr val="3A5080"/>
            </a:solidFill>
            <a:prstDash val="solid"/>
          </a:ln>
        </p:spPr>
        <p:txBody>
          <a:bodyPr/>
          <a:lstStyle/>
          <a:p>
            <a:endParaRPr lang="en-US"/>
          </a:p>
        </p:txBody>
      </p:sp>
      <p:sp>
        <p:nvSpPr>
          <p:cNvPr id="37" name="Shape 35"/>
          <p:cNvSpPr/>
          <p:nvPr/>
        </p:nvSpPr>
        <p:spPr>
          <a:xfrm>
            <a:off x="3172968" y="2359152"/>
            <a:ext cx="2788920" cy="64008"/>
          </a:xfrm>
          <a:prstGeom prst="rect">
            <a:avLst/>
          </a:prstGeom>
          <a:solidFill>
            <a:srgbClr val="B19231"/>
          </a:solidFill>
          <a:ln w="12700">
            <a:solidFill>
              <a:srgbClr val="B19231"/>
            </a:solidFill>
            <a:prstDash val="solid"/>
          </a:ln>
        </p:spPr>
        <p:txBody>
          <a:bodyPr/>
          <a:lstStyle/>
          <a:p>
            <a:endParaRPr lang="en-US"/>
          </a:p>
        </p:txBody>
      </p:sp>
      <p:sp>
        <p:nvSpPr>
          <p:cNvPr id="38" name="Text 36"/>
          <p:cNvSpPr/>
          <p:nvPr/>
        </p:nvSpPr>
        <p:spPr>
          <a:xfrm>
            <a:off x="3282696" y="2468880"/>
            <a:ext cx="2578608" cy="365760"/>
          </a:xfrm>
          <a:prstGeom prst="rect">
            <a:avLst/>
          </a:prstGeom>
          <a:noFill/>
          <a:ln/>
        </p:spPr>
        <p:txBody>
          <a:bodyPr wrap="square" rtlCol="0" anchor="ctr"/>
          <a:lstStyle/>
          <a:p>
            <a:pPr marL="0" indent="0">
              <a:buNone/>
            </a:pPr>
            <a:r>
              <a:rPr lang="en-US" sz="1200" b="1">
                <a:solidFill>
                  <a:srgbClr val="D4AF50"/>
                </a:solidFill>
                <a:latin typeface="Calibri" pitchFamily="34" charset="0"/>
                <a:ea typeface="Calibri" pitchFamily="34" charset="-122"/>
                <a:cs typeface="Calibri" pitchFamily="34" charset="-120"/>
              </a:rPr>
              <a:t>Year-over-Year % Change</a:t>
            </a:r>
            <a:endParaRPr lang="en-US" sz="1200"/>
          </a:p>
        </p:txBody>
      </p:sp>
      <p:sp>
        <p:nvSpPr>
          <p:cNvPr id="39" name="Shape 37"/>
          <p:cNvSpPr/>
          <p:nvPr/>
        </p:nvSpPr>
        <p:spPr>
          <a:xfrm>
            <a:off x="3282696" y="2880360"/>
            <a:ext cx="2578608" cy="274320"/>
          </a:xfrm>
          <a:prstGeom prst="rect">
            <a:avLst/>
          </a:prstGeom>
          <a:solidFill>
            <a:srgbClr val="111B35"/>
          </a:solidFill>
          <a:ln w="12700">
            <a:solidFill>
              <a:srgbClr val="111B35"/>
            </a:solidFill>
            <a:prstDash val="solid"/>
          </a:ln>
        </p:spPr>
        <p:txBody>
          <a:bodyPr/>
          <a:lstStyle/>
          <a:p>
            <a:endParaRPr lang="en-US"/>
          </a:p>
        </p:txBody>
      </p:sp>
      <p:sp>
        <p:nvSpPr>
          <p:cNvPr id="40" name="Text 38"/>
          <p:cNvSpPr/>
          <p:nvPr/>
        </p:nvSpPr>
        <p:spPr>
          <a:xfrm>
            <a:off x="3300984" y="2880360"/>
            <a:ext cx="2542032" cy="274320"/>
          </a:xfrm>
          <a:prstGeom prst="rect">
            <a:avLst/>
          </a:prstGeom>
          <a:noFill/>
          <a:ln/>
        </p:spPr>
        <p:txBody>
          <a:bodyPr wrap="square" rtlCol="0" anchor="ctr"/>
          <a:lstStyle/>
          <a:p>
            <a:pPr marL="0" indent="0">
              <a:buNone/>
            </a:pPr>
            <a:r>
              <a:rPr lang="en-US" sz="900" i="1">
                <a:solidFill>
                  <a:srgbClr val="EAD897"/>
                </a:solidFill>
                <a:latin typeface="Calibri" pitchFamily="34" charset="0"/>
                <a:ea typeface="Calibri" pitchFamily="34" charset="-122"/>
                <a:cs typeface="Calibri" pitchFamily="34" charset="-120"/>
              </a:rPr>
              <a:t>(CloseY - CloseY-1) / CloseY-1</a:t>
            </a:r>
            <a:endParaRPr lang="en-US" sz="900"/>
          </a:p>
        </p:txBody>
      </p:sp>
      <p:sp>
        <p:nvSpPr>
          <p:cNvPr id="41" name="Text 39"/>
          <p:cNvSpPr/>
          <p:nvPr/>
        </p:nvSpPr>
        <p:spPr>
          <a:xfrm>
            <a:off x="3282696" y="3218688"/>
            <a:ext cx="2578608" cy="1234440"/>
          </a:xfrm>
          <a:prstGeom prst="rect">
            <a:avLst/>
          </a:prstGeom>
          <a:noFill/>
          <a:ln/>
        </p:spPr>
        <p:txBody>
          <a:bodyPr wrap="square" rtlCol="0" anchor="ctr"/>
          <a:lstStyle/>
          <a:p>
            <a:pPr marL="0" indent="0">
              <a:buNone/>
            </a:pPr>
            <a:r>
              <a:rPr lang="en-US" sz="1150">
                <a:solidFill>
                  <a:srgbClr val="FFFFFF"/>
                </a:solidFill>
                <a:latin typeface="Calibri" pitchFamily="34" charset="0"/>
                <a:ea typeface="Calibri" pitchFamily="34" charset="-122"/>
                <a:cs typeface="Calibri" pitchFamily="34" charset="-120"/>
              </a:rPr>
              <a:t>Makes big years like 2020 and 2023 stand out at a glance.</a:t>
            </a:r>
            <a:endParaRPr lang="en-US" sz="1150"/>
          </a:p>
        </p:txBody>
      </p:sp>
      <p:sp>
        <p:nvSpPr>
          <p:cNvPr id="42" name="Shape 40"/>
          <p:cNvSpPr/>
          <p:nvPr/>
        </p:nvSpPr>
        <p:spPr>
          <a:xfrm>
            <a:off x="6071616" y="2359152"/>
            <a:ext cx="2788920" cy="2194560"/>
          </a:xfrm>
          <a:prstGeom prst="rect">
            <a:avLst/>
          </a:prstGeom>
          <a:solidFill>
            <a:srgbClr val="1C2B52"/>
          </a:solidFill>
          <a:ln w="12700">
            <a:solidFill>
              <a:srgbClr val="3A5080"/>
            </a:solidFill>
            <a:prstDash val="solid"/>
          </a:ln>
        </p:spPr>
        <p:txBody>
          <a:bodyPr/>
          <a:lstStyle/>
          <a:p>
            <a:endParaRPr lang="en-US"/>
          </a:p>
        </p:txBody>
      </p:sp>
      <p:sp>
        <p:nvSpPr>
          <p:cNvPr id="43" name="Shape 41"/>
          <p:cNvSpPr/>
          <p:nvPr/>
        </p:nvSpPr>
        <p:spPr>
          <a:xfrm>
            <a:off x="6071616" y="2359152"/>
            <a:ext cx="2788920" cy="64008"/>
          </a:xfrm>
          <a:prstGeom prst="rect">
            <a:avLst/>
          </a:prstGeom>
          <a:solidFill>
            <a:srgbClr val="B19231"/>
          </a:solidFill>
          <a:ln w="12700">
            <a:solidFill>
              <a:srgbClr val="B19231"/>
            </a:solidFill>
            <a:prstDash val="solid"/>
          </a:ln>
        </p:spPr>
        <p:txBody>
          <a:bodyPr/>
          <a:lstStyle/>
          <a:p>
            <a:endParaRPr lang="en-US"/>
          </a:p>
        </p:txBody>
      </p:sp>
      <p:sp>
        <p:nvSpPr>
          <p:cNvPr id="44" name="Text 42"/>
          <p:cNvSpPr/>
          <p:nvPr/>
        </p:nvSpPr>
        <p:spPr>
          <a:xfrm>
            <a:off x="6181344" y="2468880"/>
            <a:ext cx="2578608" cy="365760"/>
          </a:xfrm>
          <a:prstGeom prst="rect">
            <a:avLst/>
          </a:prstGeom>
          <a:noFill/>
          <a:ln/>
        </p:spPr>
        <p:txBody>
          <a:bodyPr wrap="square" rtlCol="0" anchor="ctr"/>
          <a:lstStyle/>
          <a:p>
            <a:pPr marL="0" indent="0">
              <a:buNone/>
            </a:pPr>
            <a:r>
              <a:rPr lang="en-US" sz="1200" b="1">
                <a:solidFill>
                  <a:srgbClr val="D4AF50"/>
                </a:solidFill>
                <a:latin typeface="Calibri" pitchFamily="34" charset="0"/>
                <a:ea typeface="Calibri" pitchFamily="34" charset="-122"/>
                <a:cs typeface="Calibri" pitchFamily="34" charset="-120"/>
              </a:rPr>
              <a:t>Daily Volatility</a:t>
            </a:r>
            <a:endParaRPr lang="en-US" sz="1200"/>
          </a:p>
        </p:txBody>
      </p:sp>
      <p:sp>
        <p:nvSpPr>
          <p:cNvPr id="45" name="Shape 43"/>
          <p:cNvSpPr/>
          <p:nvPr/>
        </p:nvSpPr>
        <p:spPr>
          <a:xfrm>
            <a:off x="6181344" y="2880360"/>
            <a:ext cx="2578608" cy="274320"/>
          </a:xfrm>
          <a:prstGeom prst="rect">
            <a:avLst/>
          </a:prstGeom>
          <a:solidFill>
            <a:srgbClr val="111B35"/>
          </a:solidFill>
          <a:ln w="12700">
            <a:solidFill>
              <a:srgbClr val="111B35"/>
            </a:solidFill>
            <a:prstDash val="solid"/>
          </a:ln>
        </p:spPr>
        <p:txBody>
          <a:bodyPr/>
          <a:lstStyle/>
          <a:p>
            <a:endParaRPr lang="en-US"/>
          </a:p>
        </p:txBody>
      </p:sp>
      <p:sp>
        <p:nvSpPr>
          <p:cNvPr id="46" name="Text 44"/>
          <p:cNvSpPr/>
          <p:nvPr/>
        </p:nvSpPr>
        <p:spPr>
          <a:xfrm>
            <a:off x="6199632" y="2880360"/>
            <a:ext cx="2542032" cy="274320"/>
          </a:xfrm>
          <a:prstGeom prst="rect">
            <a:avLst/>
          </a:prstGeom>
          <a:noFill/>
          <a:ln/>
        </p:spPr>
        <p:txBody>
          <a:bodyPr wrap="square" rtlCol="0" anchor="ctr"/>
          <a:lstStyle/>
          <a:p>
            <a:pPr marL="0" indent="0">
              <a:buNone/>
            </a:pPr>
            <a:r>
              <a:rPr lang="en-US" sz="900" i="1">
                <a:solidFill>
                  <a:srgbClr val="EAD897"/>
                </a:solidFill>
                <a:latin typeface="Calibri" pitchFamily="34" charset="0"/>
                <a:ea typeface="Calibri" pitchFamily="34" charset="-122"/>
                <a:cs typeface="Calibri" pitchFamily="34" charset="-120"/>
              </a:rPr>
              <a:t>High minus Low per trading day</a:t>
            </a:r>
            <a:endParaRPr lang="en-US" sz="900"/>
          </a:p>
        </p:txBody>
      </p:sp>
      <p:sp>
        <p:nvSpPr>
          <p:cNvPr id="47" name="Text 45"/>
          <p:cNvSpPr/>
          <p:nvPr/>
        </p:nvSpPr>
        <p:spPr>
          <a:xfrm>
            <a:off x="6181344" y="3218688"/>
            <a:ext cx="2578608" cy="1234440"/>
          </a:xfrm>
          <a:prstGeom prst="rect">
            <a:avLst/>
          </a:prstGeom>
          <a:noFill/>
          <a:ln/>
        </p:spPr>
        <p:txBody>
          <a:bodyPr wrap="square" rtlCol="0" anchor="ctr"/>
          <a:lstStyle/>
          <a:p>
            <a:pPr marL="0" indent="0">
              <a:buNone/>
            </a:pPr>
            <a:r>
              <a:rPr lang="en-US" sz="1150">
                <a:solidFill>
                  <a:srgbClr val="FFFFFF"/>
                </a:solidFill>
                <a:latin typeface="Calibri" pitchFamily="34" charset="0"/>
                <a:ea typeface="Calibri" pitchFamily="34" charset="-122"/>
                <a:cs typeface="Calibri" pitchFamily="34" charset="-120"/>
              </a:rPr>
              <a:t>Flags periods of unusual activity tied to major events.</a:t>
            </a:r>
            <a:endParaRPr lang="en-US" sz="11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FE8"/>
        </a:solidFill>
        <a:effectLst/>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22345F"/>
          </a:solidFill>
          <a:ln w="12700">
            <a:solidFill>
              <a:srgbClr val="22345F"/>
            </a:solidFill>
            <a:prstDash val="solid"/>
          </a:ln>
        </p:spPr>
        <p:txBody>
          <a:bodyPr/>
          <a:lstStyle/>
          <a:p>
            <a:endParaRPr lang="en-US"/>
          </a:p>
        </p:txBody>
      </p:sp>
      <p:sp>
        <p:nvSpPr>
          <p:cNvPr id="3" name="Shape 1"/>
          <p:cNvSpPr/>
          <p:nvPr/>
        </p:nvSpPr>
        <p:spPr>
          <a:xfrm>
            <a:off x="0" y="603504"/>
            <a:ext cx="9144000" cy="54864"/>
          </a:xfrm>
          <a:prstGeom prst="rect">
            <a:avLst/>
          </a:prstGeom>
          <a:solidFill>
            <a:srgbClr val="B19231"/>
          </a:solidFill>
          <a:ln w="12700">
            <a:solidFill>
              <a:srgbClr val="B19231"/>
            </a:solidFill>
            <a:prstDash val="solid"/>
          </a:ln>
        </p:spPr>
        <p:txBody>
          <a:bodyPr/>
          <a:lstStyle/>
          <a:p>
            <a:endParaRPr lang="en-US"/>
          </a:p>
        </p:txBody>
      </p:sp>
      <p:sp>
        <p:nvSpPr>
          <p:cNvPr id="4" name="Shape 2"/>
          <p:cNvSpPr/>
          <p:nvPr/>
        </p:nvSpPr>
        <p:spPr>
          <a:xfrm>
            <a:off x="0" y="4754880"/>
            <a:ext cx="9144000" cy="388620"/>
          </a:xfrm>
          <a:prstGeom prst="rect">
            <a:avLst/>
          </a:prstGeom>
          <a:solidFill>
            <a:srgbClr val="B19231"/>
          </a:solidFill>
          <a:ln w="12700">
            <a:solidFill>
              <a:srgbClr val="B19231"/>
            </a:solidFill>
            <a:prstDash val="solid"/>
          </a:ln>
        </p:spPr>
        <p:txBody>
          <a:bodyPr/>
          <a:lstStyle/>
          <a:p>
            <a:endParaRPr lang="en-US"/>
          </a:p>
        </p:txBody>
      </p:sp>
      <p:sp>
        <p:nvSpPr>
          <p:cNvPr id="5" name="Text 3"/>
          <p:cNvSpPr/>
          <p:nvPr/>
        </p:nvSpPr>
        <p:spPr>
          <a:xfrm>
            <a:off x="320040" y="54864"/>
            <a:ext cx="8503920" cy="493776"/>
          </a:xfrm>
          <a:prstGeom prst="rect">
            <a:avLst/>
          </a:prstGeom>
          <a:noFill/>
          <a:ln/>
        </p:spPr>
        <p:txBody>
          <a:bodyPr wrap="square" lIns="0" tIns="0" rIns="0" bIns="0" rtlCol="0" anchor="ctr"/>
          <a:lstStyle/>
          <a:p>
            <a:pPr marL="0" indent="0" algn="l">
              <a:buNone/>
            </a:pPr>
            <a:r>
              <a:rPr lang="en-US" sz="2100" b="1">
                <a:solidFill>
                  <a:srgbClr val="FFFFFF"/>
                </a:solidFill>
                <a:latin typeface="Calibri" pitchFamily="34" charset="0"/>
                <a:ea typeface="Calibri" pitchFamily="34" charset="-122"/>
                <a:cs typeface="Calibri" pitchFamily="34" charset="-120"/>
              </a:rPr>
              <a:t>Key Findings</a:t>
            </a:r>
            <a:endParaRPr lang="en-US" sz="2100"/>
          </a:p>
        </p:txBody>
      </p:sp>
      <p:sp>
        <p:nvSpPr>
          <p:cNvPr id="6" name="Text 4"/>
          <p:cNvSpPr/>
          <p:nvPr/>
        </p:nvSpPr>
        <p:spPr>
          <a:xfrm>
            <a:off x="274320" y="4782312"/>
            <a:ext cx="8595360" cy="274320"/>
          </a:xfrm>
          <a:prstGeom prst="rect">
            <a:avLst/>
          </a:prstGeom>
          <a:noFill/>
          <a:ln/>
        </p:spPr>
        <p:txBody>
          <a:bodyPr wrap="square" rtlCol="0" anchor="ctr"/>
          <a:lstStyle/>
          <a:p>
            <a:pPr marL="0" indent="0" algn="ctr">
              <a:buNone/>
            </a:pPr>
            <a:r>
              <a:rPr lang="en-US" sz="950" b="1">
                <a:solidFill>
                  <a:srgbClr val="111B35"/>
                </a:solidFill>
                <a:latin typeface="Calibri" pitchFamily="34" charset="0"/>
                <a:ea typeface="Calibri" pitchFamily="34" charset="-122"/>
                <a:cs typeface="Calibri" pitchFamily="34" charset="-120"/>
              </a:rPr>
              <a:t>COMP 3250  |  Group 8  |  University of Windsor  |  2026</a:t>
            </a:r>
            <a:endParaRPr lang="en-US" sz="950"/>
          </a:p>
        </p:txBody>
      </p:sp>
      <p:sp>
        <p:nvSpPr>
          <p:cNvPr id="7" name="Shape 5"/>
          <p:cNvSpPr/>
          <p:nvPr/>
        </p:nvSpPr>
        <p:spPr>
          <a:xfrm>
            <a:off x="822960" y="804672"/>
            <a:ext cx="822960" cy="822960"/>
          </a:xfrm>
          <a:prstGeom prst="ellipse">
            <a:avLst/>
          </a:prstGeom>
          <a:solidFill>
            <a:srgbClr val="3A6EA8"/>
          </a:solidFill>
          <a:ln w="12700">
            <a:solidFill>
              <a:srgbClr val="3A6EA8"/>
            </a:solidFill>
            <a:prstDash val="solid"/>
          </a:ln>
        </p:spPr>
        <p:txBody>
          <a:bodyPr/>
          <a:lstStyle/>
          <a:p>
            <a:endParaRPr lang="en-US"/>
          </a:p>
        </p:txBody>
      </p:sp>
      <p:sp>
        <p:nvSpPr>
          <p:cNvPr id="8" name="Text 6"/>
          <p:cNvSpPr/>
          <p:nvPr/>
        </p:nvSpPr>
        <p:spPr>
          <a:xfrm>
            <a:off x="822960" y="804672"/>
            <a:ext cx="822960" cy="82296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2018-19</a:t>
            </a:r>
            <a:endParaRPr lang="en-US" sz="1100"/>
          </a:p>
        </p:txBody>
      </p:sp>
      <p:sp>
        <p:nvSpPr>
          <p:cNvPr id="9" name="Shape 7"/>
          <p:cNvSpPr/>
          <p:nvPr/>
        </p:nvSpPr>
        <p:spPr>
          <a:xfrm>
            <a:off x="1664208" y="1161288"/>
            <a:ext cx="749808" cy="45720"/>
          </a:xfrm>
          <a:prstGeom prst="rect">
            <a:avLst/>
          </a:prstGeom>
          <a:solidFill>
            <a:srgbClr val="AAAAAA"/>
          </a:solidFill>
          <a:ln w="12700">
            <a:solidFill>
              <a:srgbClr val="AAAAAA"/>
            </a:solidFill>
            <a:prstDash val="solid"/>
          </a:ln>
        </p:spPr>
        <p:txBody>
          <a:bodyPr/>
          <a:lstStyle/>
          <a:p>
            <a:endParaRPr lang="en-US"/>
          </a:p>
        </p:txBody>
      </p:sp>
      <p:sp>
        <p:nvSpPr>
          <p:cNvPr id="10" name="Text 8"/>
          <p:cNvSpPr/>
          <p:nvPr/>
        </p:nvSpPr>
        <p:spPr>
          <a:xfrm>
            <a:off x="256032" y="1737360"/>
            <a:ext cx="1965960" cy="329184"/>
          </a:xfrm>
          <a:prstGeom prst="rect">
            <a:avLst/>
          </a:prstGeom>
          <a:noFill/>
          <a:ln/>
        </p:spPr>
        <p:txBody>
          <a:bodyPr wrap="square" rtlCol="0" anchor="ctr"/>
          <a:lstStyle/>
          <a:p>
            <a:pPr marL="0" indent="0" algn="ctr">
              <a:buNone/>
            </a:pPr>
            <a:r>
              <a:rPr lang="en-US" sz="1100" b="1">
                <a:solidFill>
                  <a:srgbClr val="22345F"/>
                </a:solidFill>
                <a:latin typeface="Calibri" pitchFamily="34" charset="0"/>
                <a:ea typeface="Calibri" pitchFamily="34" charset="-122"/>
                <a:cs typeface="Calibri" pitchFamily="34" charset="-120"/>
              </a:rPr>
              <a:t>Moderate Growth</a:t>
            </a:r>
            <a:endParaRPr lang="en-US" sz="1100"/>
          </a:p>
        </p:txBody>
      </p:sp>
      <p:sp>
        <p:nvSpPr>
          <p:cNvPr id="11" name="Shape 9"/>
          <p:cNvSpPr/>
          <p:nvPr/>
        </p:nvSpPr>
        <p:spPr>
          <a:xfrm>
            <a:off x="256032" y="2103120"/>
            <a:ext cx="1965960" cy="1143000"/>
          </a:xfrm>
          <a:prstGeom prst="rect">
            <a:avLst/>
          </a:prstGeom>
          <a:solidFill>
            <a:srgbClr val="FFFFFF"/>
          </a:solidFill>
          <a:ln w="12700">
            <a:solidFill>
              <a:srgbClr val="D0D5E0"/>
            </a:solidFill>
            <a:prstDash val="solid"/>
          </a:ln>
        </p:spPr>
        <p:txBody>
          <a:bodyPr/>
          <a:lstStyle/>
          <a:p>
            <a:endParaRPr lang="en-US"/>
          </a:p>
        </p:txBody>
      </p:sp>
      <p:sp>
        <p:nvSpPr>
          <p:cNvPr id="12" name="Shape 10"/>
          <p:cNvSpPr/>
          <p:nvPr/>
        </p:nvSpPr>
        <p:spPr>
          <a:xfrm>
            <a:off x="256032" y="2103120"/>
            <a:ext cx="1965960" cy="54864"/>
          </a:xfrm>
          <a:prstGeom prst="rect">
            <a:avLst/>
          </a:prstGeom>
          <a:solidFill>
            <a:srgbClr val="3A6EA8"/>
          </a:solidFill>
          <a:ln w="12700">
            <a:solidFill>
              <a:srgbClr val="3A6EA8"/>
            </a:solidFill>
            <a:prstDash val="solid"/>
          </a:ln>
        </p:spPr>
        <p:txBody>
          <a:bodyPr/>
          <a:lstStyle/>
          <a:p>
            <a:endParaRPr lang="en-US"/>
          </a:p>
        </p:txBody>
      </p:sp>
      <p:sp>
        <p:nvSpPr>
          <p:cNvPr id="13" name="Text 11"/>
          <p:cNvSpPr/>
          <p:nvPr/>
        </p:nvSpPr>
        <p:spPr>
          <a:xfrm>
            <a:off x="347472" y="2194560"/>
            <a:ext cx="1792224" cy="1005840"/>
          </a:xfrm>
          <a:prstGeom prst="rect">
            <a:avLst/>
          </a:prstGeom>
          <a:noFill/>
          <a:ln/>
        </p:spPr>
        <p:txBody>
          <a:bodyPr wrap="square" rtlCol="0" anchor="ctr"/>
          <a:lstStyle/>
          <a:p>
            <a:pPr marL="0" indent="0">
              <a:buNone/>
            </a:pPr>
            <a:r>
              <a:rPr lang="en-US" sz="1100">
                <a:solidFill>
                  <a:srgbClr val="2C3E50"/>
                </a:solidFill>
                <a:latin typeface="Calibri" pitchFamily="34" charset="0"/>
                <a:ea typeface="Calibri" pitchFamily="34" charset="-122"/>
                <a:cs typeface="Calibri" pitchFamily="34" charset="-120"/>
              </a:rPr>
              <a:t>Trade tensions pushed gold steadily upward.</a:t>
            </a:r>
            <a:endParaRPr lang="en-US" sz="1100"/>
          </a:p>
        </p:txBody>
      </p:sp>
      <p:sp>
        <p:nvSpPr>
          <p:cNvPr id="14" name="Shape 12"/>
          <p:cNvSpPr/>
          <p:nvPr/>
        </p:nvSpPr>
        <p:spPr>
          <a:xfrm>
            <a:off x="2999232" y="804672"/>
            <a:ext cx="822960" cy="822960"/>
          </a:xfrm>
          <a:prstGeom prst="ellipse">
            <a:avLst/>
          </a:prstGeom>
          <a:solidFill>
            <a:srgbClr val="B19231"/>
          </a:solidFill>
          <a:ln w="12700">
            <a:solidFill>
              <a:srgbClr val="B19231"/>
            </a:solidFill>
            <a:prstDash val="solid"/>
          </a:ln>
        </p:spPr>
        <p:txBody>
          <a:bodyPr/>
          <a:lstStyle/>
          <a:p>
            <a:endParaRPr lang="en-US"/>
          </a:p>
        </p:txBody>
      </p:sp>
      <p:sp>
        <p:nvSpPr>
          <p:cNvPr id="15" name="Text 13"/>
          <p:cNvSpPr/>
          <p:nvPr/>
        </p:nvSpPr>
        <p:spPr>
          <a:xfrm>
            <a:off x="2999232" y="804672"/>
            <a:ext cx="822960" cy="82296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2020</a:t>
            </a:r>
            <a:endParaRPr lang="en-US" sz="1100"/>
          </a:p>
        </p:txBody>
      </p:sp>
      <p:sp>
        <p:nvSpPr>
          <p:cNvPr id="16" name="Shape 14"/>
          <p:cNvSpPr/>
          <p:nvPr/>
        </p:nvSpPr>
        <p:spPr>
          <a:xfrm>
            <a:off x="3840480" y="1161288"/>
            <a:ext cx="749808" cy="45720"/>
          </a:xfrm>
          <a:prstGeom prst="rect">
            <a:avLst/>
          </a:prstGeom>
          <a:solidFill>
            <a:srgbClr val="AAAAAA"/>
          </a:solidFill>
          <a:ln w="12700">
            <a:solidFill>
              <a:srgbClr val="AAAAAA"/>
            </a:solidFill>
            <a:prstDash val="solid"/>
          </a:ln>
        </p:spPr>
        <p:txBody>
          <a:bodyPr/>
          <a:lstStyle/>
          <a:p>
            <a:endParaRPr lang="en-US"/>
          </a:p>
        </p:txBody>
      </p:sp>
      <p:sp>
        <p:nvSpPr>
          <p:cNvPr id="17" name="Text 15"/>
          <p:cNvSpPr/>
          <p:nvPr/>
        </p:nvSpPr>
        <p:spPr>
          <a:xfrm>
            <a:off x="2432304" y="1737360"/>
            <a:ext cx="1965960" cy="329184"/>
          </a:xfrm>
          <a:prstGeom prst="rect">
            <a:avLst/>
          </a:prstGeom>
          <a:noFill/>
          <a:ln/>
        </p:spPr>
        <p:txBody>
          <a:bodyPr wrap="square" rtlCol="0" anchor="ctr"/>
          <a:lstStyle/>
          <a:p>
            <a:pPr marL="0" indent="0" algn="ctr">
              <a:buNone/>
            </a:pPr>
            <a:r>
              <a:rPr lang="en-US" sz="1100" b="1">
                <a:solidFill>
                  <a:srgbClr val="22345F"/>
                </a:solidFill>
                <a:latin typeface="Calibri" pitchFamily="34" charset="0"/>
                <a:ea typeface="Calibri" pitchFamily="34" charset="-122"/>
                <a:cs typeface="Calibri" pitchFamily="34" charset="-120"/>
              </a:rPr>
              <a:t>COVID-19 Spike</a:t>
            </a:r>
            <a:endParaRPr lang="en-US" sz="1100"/>
          </a:p>
        </p:txBody>
      </p:sp>
      <p:sp>
        <p:nvSpPr>
          <p:cNvPr id="18" name="Shape 16"/>
          <p:cNvSpPr/>
          <p:nvPr/>
        </p:nvSpPr>
        <p:spPr>
          <a:xfrm>
            <a:off x="2432304" y="2103120"/>
            <a:ext cx="1965960" cy="1143000"/>
          </a:xfrm>
          <a:prstGeom prst="rect">
            <a:avLst/>
          </a:prstGeom>
          <a:solidFill>
            <a:srgbClr val="FFFFFF"/>
          </a:solidFill>
          <a:ln w="12700">
            <a:solidFill>
              <a:srgbClr val="D0D5E0"/>
            </a:solidFill>
            <a:prstDash val="solid"/>
          </a:ln>
        </p:spPr>
        <p:txBody>
          <a:bodyPr/>
          <a:lstStyle/>
          <a:p>
            <a:endParaRPr lang="en-US"/>
          </a:p>
        </p:txBody>
      </p:sp>
      <p:sp>
        <p:nvSpPr>
          <p:cNvPr id="19" name="Shape 17"/>
          <p:cNvSpPr/>
          <p:nvPr/>
        </p:nvSpPr>
        <p:spPr>
          <a:xfrm>
            <a:off x="2432304" y="2103120"/>
            <a:ext cx="1965960" cy="54864"/>
          </a:xfrm>
          <a:prstGeom prst="rect">
            <a:avLst/>
          </a:prstGeom>
          <a:solidFill>
            <a:srgbClr val="B19231"/>
          </a:solidFill>
          <a:ln w="12700">
            <a:solidFill>
              <a:srgbClr val="B19231"/>
            </a:solidFill>
            <a:prstDash val="solid"/>
          </a:ln>
        </p:spPr>
        <p:txBody>
          <a:bodyPr/>
          <a:lstStyle/>
          <a:p>
            <a:endParaRPr lang="en-US"/>
          </a:p>
        </p:txBody>
      </p:sp>
      <p:sp>
        <p:nvSpPr>
          <p:cNvPr id="20" name="Text 18"/>
          <p:cNvSpPr/>
          <p:nvPr/>
        </p:nvSpPr>
        <p:spPr>
          <a:xfrm>
            <a:off x="2523744" y="2194560"/>
            <a:ext cx="1792224" cy="1005840"/>
          </a:xfrm>
          <a:prstGeom prst="rect">
            <a:avLst/>
          </a:prstGeom>
          <a:noFill/>
          <a:ln/>
        </p:spPr>
        <p:txBody>
          <a:bodyPr wrap="square" rtlCol="0" anchor="ctr"/>
          <a:lstStyle/>
          <a:p>
            <a:pPr marL="0" indent="0">
              <a:buNone/>
            </a:pPr>
            <a:r>
              <a:rPr lang="en-US" sz="1100">
                <a:solidFill>
                  <a:srgbClr val="2C3E50"/>
                </a:solidFill>
                <a:latin typeface="Calibri" pitchFamily="34" charset="0"/>
                <a:ea typeface="Calibri" pitchFamily="34" charset="-122"/>
                <a:cs typeface="Calibri" pitchFamily="34" charset="-120"/>
              </a:rPr>
              <a:t>Record highs as investors moved to safe-haven assets.</a:t>
            </a:r>
            <a:endParaRPr lang="en-US" sz="1100"/>
          </a:p>
        </p:txBody>
      </p:sp>
      <p:sp>
        <p:nvSpPr>
          <p:cNvPr id="21" name="Shape 19"/>
          <p:cNvSpPr/>
          <p:nvPr/>
        </p:nvSpPr>
        <p:spPr>
          <a:xfrm>
            <a:off x="5175504" y="804672"/>
            <a:ext cx="822960" cy="822960"/>
          </a:xfrm>
          <a:prstGeom prst="ellipse">
            <a:avLst/>
          </a:prstGeom>
          <a:solidFill>
            <a:srgbClr val="8B2E2E"/>
          </a:solidFill>
          <a:ln w="12700">
            <a:solidFill>
              <a:srgbClr val="8B2E2E"/>
            </a:solidFill>
            <a:prstDash val="solid"/>
          </a:ln>
        </p:spPr>
        <p:txBody>
          <a:bodyPr/>
          <a:lstStyle/>
          <a:p>
            <a:endParaRPr lang="en-US"/>
          </a:p>
        </p:txBody>
      </p:sp>
      <p:sp>
        <p:nvSpPr>
          <p:cNvPr id="22" name="Text 20"/>
          <p:cNvSpPr/>
          <p:nvPr/>
        </p:nvSpPr>
        <p:spPr>
          <a:xfrm>
            <a:off x="5175504" y="804672"/>
            <a:ext cx="822960" cy="82296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2022</a:t>
            </a:r>
            <a:endParaRPr lang="en-US" sz="1100"/>
          </a:p>
        </p:txBody>
      </p:sp>
      <p:sp>
        <p:nvSpPr>
          <p:cNvPr id="23" name="Shape 21"/>
          <p:cNvSpPr/>
          <p:nvPr/>
        </p:nvSpPr>
        <p:spPr>
          <a:xfrm>
            <a:off x="6016752" y="1161288"/>
            <a:ext cx="749808" cy="45720"/>
          </a:xfrm>
          <a:prstGeom prst="rect">
            <a:avLst/>
          </a:prstGeom>
          <a:solidFill>
            <a:srgbClr val="AAAAAA"/>
          </a:solidFill>
          <a:ln w="12700">
            <a:solidFill>
              <a:srgbClr val="AAAAAA"/>
            </a:solidFill>
            <a:prstDash val="solid"/>
          </a:ln>
        </p:spPr>
        <p:txBody>
          <a:bodyPr/>
          <a:lstStyle/>
          <a:p>
            <a:endParaRPr lang="en-US"/>
          </a:p>
        </p:txBody>
      </p:sp>
      <p:sp>
        <p:nvSpPr>
          <p:cNvPr id="24" name="Text 22"/>
          <p:cNvSpPr/>
          <p:nvPr/>
        </p:nvSpPr>
        <p:spPr>
          <a:xfrm>
            <a:off x="4608576" y="1737360"/>
            <a:ext cx="1965960" cy="329184"/>
          </a:xfrm>
          <a:prstGeom prst="rect">
            <a:avLst/>
          </a:prstGeom>
          <a:noFill/>
          <a:ln/>
        </p:spPr>
        <p:txBody>
          <a:bodyPr wrap="square" rtlCol="0" anchor="ctr"/>
          <a:lstStyle/>
          <a:p>
            <a:pPr marL="0" indent="0" algn="ctr">
              <a:buNone/>
            </a:pPr>
            <a:r>
              <a:rPr lang="en-US" sz="1100" b="1">
                <a:solidFill>
                  <a:srgbClr val="22345F"/>
                </a:solidFill>
                <a:latin typeface="Calibri" pitchFamily="34" charset="0"/>
                <a:ea typeface="Calibri" pitchFamily="34" charset="-122"/>
                <a:cs typeface="Calibri" pitchFamily="34" charset="-120"/>
              </a:rPr>
              <a:t>Rate-Driven Dip</a:t>
            </a:r>
            <a:endParaRPr lang="en-US" sz="1100"/>
          </a:p>
        </p:txBody>
      </p:sp>
      <p:sp>
        <p:nvSpPr>
          <p:cNvPr id="25" name="Shape 23"/>
          <p:cNvSpPr/>
          <p:nvPr/>
        </p:nvSpPr>
        <p:spPr>
          <a:xfrm>
            <a:off x="4608576" y="2103120"/>
            <a:ext cx="1965960" cy="1143000"/>
          </a:xfrm>
          <a:prstGeom prst="rect">
            <a:avLst/>
          </a:prstGeom>
          <a:solidFill>
            <a:srgbClr val="FFFFFF"/>
          </a:solidFill>
          <a:ln w="12700">
            <a:solidFill>
              <a:srgbClr val="D0D5E0"/>
            </a:solidFill>
            <a:prstDash val="solid"/>
          </a:ln>
        </p:spPr>
        <p:txBody>
          <a:bodyPr/>
          <a:lstStyle/>
          <a:p>
            <a:endParaRPr lang="en-US"/>
          </a:p>
        </p:txBody>
      </p:sp>
      <p:sp>
        <p:nvSpPr>
          <p:cNvPr id="26" name="Shape 24"/>
          <p:cNvSpPr/>
          <p:nvPr/>
        </p:nvSpPr>
        <p:spPr>
          <a:xfrm>
            <a:off x="4608576" y="2103120"/>
            <a:ext cx="1965960" cy="54864"/>
          </a:xfrm>
          <a:prstGeom prst="rect">
            <a:avLst/>
          </a:prstGeom>
          <a:solidFill>
            <a:srgbClr val="8B2E2E"/>
          </a:solidFill>
          <a:ln w="12700">
            <a:solidFill>
              <a:srgbClr val="8B2E2E"/>
            </a:solidFill>
            <a:prstDash val="solid"/>
          </a:ln>
        </p:spPr>
        <p:txBody>
          <a:bodyPr/>
          <a:lstStyle/>
          <a:p>
            <a:endParaRPr lang="en-US"/>
          </a:p>
        </p:txBody>
      </p:sp>
      <p:sp>
        <p:nvSpPr>
          <p:cNvPr id="27" name="Text 25"/>
          <p:cNvSpPr/>
          <p:nvPr/>
        </p:nvSpPr>
        <p:spPr>
          <a:xfrm>
            <a:off x="4700016" y="2194560"/>
            <a:ext cx="1792224" cy="1005840"/>
          </a:xfrm>
          <a:prstGeom prst="rect">
            <a:avLst/>
          </a:prstGeom>
          <a:noFill/>
          <a:ln/>
        </p:spPr>
        <p:txBody>
          <a:bodyPr wrap="square" rtlCol="0" anchor="ctr"/>
          <a:lstStyle/>
          <a:p>
            <a:pPr marL="0" indent="0">
              <a:buNone/>
            </a:pPr>
            <a:r>
              <a:rPr lang="en-US" sz="1100">
                <a:solidFill>
                  <a:srgbClr val="2C3E50"/>
                </a:solidFill>
                <a:latin typeface="Calibri" pitchFamily="34" charset="0"/>
                <a:ea typeface="Calibri" pitchFamily="34" charset="-122"/>
                <a:cs typeface="Calibri" pitchFamily="34" charset="-120"/>
              </a:rPr>
              <a:t>Rising interest rates and a stronger dollar cut demand.</a:t>
            </a:r>
            <a:endParaRPr lang="en-US" sz="1100"/>
          </a:p>
        </p:txBody>
      </p:sp>
      <p:sp>
        <p:nvSpPr>
          <p:cNvPr id="28" name="Shape 26"/>
          <p:cNvSpPr/>
          <p:nvPr/>
        </p:nvSpPr>
        <p:spPr>
          <a:xfrm>
            <a:off x="7351776" y="804672"/>
            <a:ext cx="822960" cy="822960"/>
          </a:xfrm>
          <a:prstGeom prst="ellipse">
            <a:avLst/>
          </a:prstGeom>
          <a:solidFill>
            <a:srgbClr val="2E7D4F"/>
          </a:solidFill>
          <a:ln w="12700">
            <a:solidFill>
              <a:srgbClr val="2E7D4F"/>
            </a:solidFill>
            <a:prstDash val="solid"/>
          </a:ln>
        </p:spPr>
        <p:txBody>
          <a:bodyPr/>
          <a:lstStyle/>
          <a:p>
            <a:endParaRPr lang="en-US"/>
          </a:p>
        </p:txBody>
      </p:sp>
      <p:sp>
        <p:nvSpPr>
          <p:cNvPr id="29" name="Text 27"/>
          <p:cNvSpPr/>
          <p:nvPr/>
        </p:nvSpPr>
        <p:spPr>
          <a:xfrm>
            <a:off x="7351776" y="804672"/>
            <a:ext cx="822960" cy="82296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2023+</a:t>
            </a:r>
            <a:endParaRPr lang="en-US" sz="1100"/>
          </a:p>
        </p:txBody>
      </p:sp>
      <p:sp>
        <p:nvSpPr>
          <p:cNvPr id="30" name="Text 28"/>
          <p:cNvSpPr/>
          <p:nvPr/>
        </p:nvSpPr>
        <p:spPr>
          <a:xfrm>
            <a:off x="6784848" y="1737360"/>
            <a:ext cx="1965960" cy="329184"/>
          </a:xfrm>
          <a:prstGeom prst="rect">
            <a:avLst/>
          </a:prstGeom>
          <a:noFill/>
          <a:ln/>
        </p:spPr>
        <p:txBody>
          <a:bodyPr wrap="square" rtlCol="0" anchor="ctr"/>
          <a:lstStyle/>
          <a:p>
            <a:pPr marL="0" indent="0" algn="ctr">
              <a:buNone/>
            </a:pPr>
            <a:r>
              <a:rPr lang="en-US" sz="1100" b="1">
                <a:solidFill>
                  <a:srgbClr val="22345F"/>
                </a:solidFill>
                <a:latin typeface="Calibri" pitchFamily="34" charset="0"/>
                <a:ea typeface="Calibri" pitchFamily="34" charset="-122"/>
                <a:cs typeface="Calibri" pitchFamily="34" charset="-120"/>
              </a:rPr>
              <a:t>Sharp Recovery</a:t>
            </a:r>
            <a:endParaRPr lang="en-US" sz="1100"/>
          </a:p>
        </p:txBody>
      </p:sp>
      <p:sp>
        <p:nvSpPr>
          <p:cNvPr id="31" name="Shape 29"/>
          <p:cNvSpPr/>
          <p:nvPr/>
        </p:nvSpPr>
        <p:spPr>
          <a:xfrm>
            <a:off x="6784848" y="2103120"/>
            <a:ext cx="1965960" cy="1143000"/>
          </a:xfrm>
          <a:prstGeom prst="rect">
            <a:avLst/>
          </a:prstGeom>
          <a:solidFill>
            <a:srgbClr val="FFFFFF"/>
          </a:solidFill>
          <a:ln w="12700">
            <a:solidFill>
              <a:srgbClr val="D0D5E0"/>
            </a:solidFill>
            <a:prstDash val="solid"/>
          </a:ln>
        </p:spPr>
        <p:txBody>
          <a:bodyPr/>
          <a:lstStyle/>
          <a:p>
            <a:endParaRPr lang="en-US"/>
          </a:p>
        </p:txBody>
      </p:sp>
      <p:sp>
        <p:nvSpPr>
          <p:cNvPr id="32" name="Shape 30"/>
          <p:cNvSpPr/>
          <p:nvPr/>
        </p:nvSpPr>
        <p:spPr>
          <a:xfrm>
            <a:off x="6784848" y="2103120"/>
            <a:ext cx="1965960" cy="54864"/>
          </a:xfrm>
          <a:prstGeom prst="rect">
            <a:avLst/>
          </a:prstGeom>
          <a:solidFill>
            <a:srgbClr val="2E7D4F"/>
          </a:solidFill>
          <a:ln w="12700">
            <a:solidFill>
              <a:srgbClr val="2E7D4F"/>
            </a:solidFill>
            <a:prstDash val="solid"/>
          </a:ln>
        </p:spPr>
        <p:txBody>
          <a:bodyPr/>
          <a:lstStyle/>
          <a:p>
            <a:endParaRPr lang="en-US"/>
          </a:p>
        </p:txBody>
      </p:sp>
      <p:sp>
        <p:nvSpPr>
          <p:cNvPr id="33" name="Text 31"/>
          <p:cNvSpPr/>
          <p:nvPr/>
        </p:nvSpPr>
        <p:spPr>
          <a:xfrm>
            <a:off x="6876288" y="2194560"/>
            <a:ext cx="1792224" cy="1005840"/>
          </a:xfrm>
          <a:prstGeom prst="rect">
            <a:avLst/>
          </a:prstGeom>
          <a:noFill/>
          <a:ln/>
        </p:spPr>
        <p:txBody>
          <a:bodyPr wrap="square" rtlCol="0" anchor="ctr"/>
          <a:lstStyle/>
          <a:p>
            <a:pPr marL="0" indent="0">
              <a:buNone/>
            </a:pPr>
            <a:r>
              <a:rPr lang="en-US" sz="1100">
                <a:solidFill>
                  <a:srgbClr val="2C3E50"/>
                </a:solidFill>
                <a:latin typeface="Calibri" pitchFamily="34" charset="0"/>
                <a:ea typeface="Calibri" pitchFamily="34" charset="-122"/>
                <a:cs typeface="Calibri" pitchFamily="34" charset="-120"/>
              </a:rPr>
              <a:t>Inflation fears drove gold to near double its 2016 price.</a:t>
            </a:r>
            <a:endParaRPr lang="en-US" sz="1100"/>
          </a:p>
        </p:txBody>
      </p:sp>
      <p:sp>
        <p:nvSpPr>
          <p:cNvPr id="34" name="Shape 32"/>
          <p:cNvSpPr/>
          <p:nvPr/>
        </p:nvSpPr>
        <p:spPr>
          <a:xfrm>
            <a:off x="256032" y="3401568"/>
            <a:ext cx="2788920" cy="1115568"/>
          </a:xfrm>
          <a:prstGeom prst="rect">
            <a:avLst/>
          </a:prstGeom>
          <a:solidFill>
            <a:srgbClr val="22345F"/>
          </a:solidFill>
          <a:ln w="12700">
            <a:solidFill>
              <a:srgbClr val="22345F"/>
            </a:solidFill>
            <a:prstDash val="solid"/>
          </a:ln>
        </p:spPr>
        <p:txBody>
          <a:bodyPr/>
          <a:lstStyle/>
          <a:p>
            <a:endParaRPr lang="en-US"/>
          </a:p>
        </p:txBody>
      </p:sp>
      <p:sp>
        <p:nvSpPr>
          <p:cNvPr id="35" name="Shape 33"/>
          <p:cNvSpPr/>
          <p:nvPr/>
        </p:nvSpPr>
        <p:spPr>
          <a:xfrm>
            <a:off x="384048" y="3529584"/>
            <a:ext cx="457200" cy="457200"/>
          </a:xfrm>
          <a:prstGeom prst="ellipse">
            <a:avLst/>
          </a:prstGeom>
          <a:solidFill>
            <a:srgbClr val="B19231"/>
          </a:solidFill>
          <a:ln w="12700">
            <a:solidFill>
              <a:srgbClr val="B19231"/>
            </a:solidFill>
            <a:prstDash val="solid"/>
          </a:ln>
        </p:spPr>
        <p:txBody>
          <a:bodyPr/>
          <a:lstStyle/>
          <a:p>
            <a:endParaRPr lang="en-US"/>
          </a:p>
        </p:txBody>
      </p:sp>
      <p:sp>
        <p:nvSpPr>
          <p:cNvPr id="36" name="Text 34"/>
          <p:cNvSpPr/>
          <p:nvPr/>
        </p:nvSpPr>
        <p:spPr>
          <a:xfrm>
            <a:off x="384048" y="3529584"/>
            <a:ext cx="457200" cy="457200"/>
          </a:xfrm>
          <a:prstGeom prst="rect">
            <a:avLst/>
          </a:prstGeom>
          <a:noFill/>
          <a:ln/>
        </p:spPr>
        <p:txBody>
          <a:bodyPr wrap="square" rtlCol="0" anchor="ctr"/>
          <a:lstStyle/>
          <a:p>
            <a:pPr marL="0" indent="0" algn="ctr">
              <a:buNone/>
            </a:pPr>
            <a:r>
              <a:rPr lang="en-US" sz="1100" b="1">
                <a:solidFill>
                  <a:srgbClr val="111B35"/>
                </a:solidFill>
                <a:latin typeface="Calibri" pitchFamily="34" charset="0"/>
                <a:ea typeface="Calibri" pitchFamily="34" charset="-122"/>
                <a:cs typeface="Calibri" pitchFamily="34" charset="-120"/>
              </a:rPr>
              <a:t>01</a:t>
            </a:r>
            <a:endParaRPr lang="en-US" sz="1100"/>
          </a:p>
        </p:txBody>
      </p:sp>
      <p:sp>
        <p:nvSpPr>
          <p:cNvPr id="37" name="Text 35"/>
          <p:cNvSpPr/>
          <p:nvPr/>
        </p:nvSpPr>
        <p:spPr>
          <a:xfrm>
            <a:off x="969264" y="3493008"/>
            <a:ext cx="1956816" cy="329184"/>
          </a:xfrm>
          <a:prstGeom prst="rect">
            <a:avLst/>
          </a:prstGeom>
          <a:noFill/>
          <a:ln/>
        </p:spPr>
        <p:txBody>
          <a:bodyPr wrap="square" rtlCol="0" anchor="ctr"/>
          <a:lstStyle/>
          <a:p>
            <a:pPr marL="0" indent="0">
              <a:buNone/>
            </a:pPr>
            <a:r>
              <a:rPr lang="en-US" sz="1300" b="1">
                <a:solidFill>
                  <a:srgbClr val="D4AF50"/>
                </a:solidFill>
                <a:latin typeface="Calibri" pitchFamily="34" charset="0"/>
                <a:ea typeface="Calibri" pitchFamily="34" charset="-122"/>
                <a:cs typeface="Calibri" pitchFamily="34" charset="-120"/>
              </a:rPr>
              <a:t>Saves Time</a:t>
            </a:r>
            <a:endParaRPr lang="en-US" sz="1300"/>
          </a:p>
        </p:txBody>
      </p:sp>
      <p:sp>
        <p:nvSpPr>
          <p:cNvPr id="38" name="Text 36"/>
          <p:cNvSpPr/>
          <p:nvPr/>
        </p:nvSpPr>
        <p:spPr>
          <a:xfrm>
            <a:off x="969264" y="3840480"/>
            <a:ext cx="1956816" cy="594360"/>
          </a:xfrm>
          <a:prstGeom prst="rect">
            <a:avLst/>
          </a:prstGeom>
          <a:noFill/>
          <a:ln/>
        </p:spPr>
        <p:txBody>
          <a:bodyPr wrap="square" rtlCol="0" anchor="ctr"/>
          <a:lstStyle/>
          <a:p>
            <a:pPr marL="0" indent="0">
              <a:buNone/>
            </a:pPr>
            <a:r>
              <a:rPr lang="en-US" sz="1050">
                <a:solidFill>
                  <a:srgbClr val="C4CAD8"/>
                </a:solidFill>
                <a:latin typeface="Calibri" pitchFamily="34" charset="0"/>
                <a:ea typeface="Calibri" pitchFamily="34" charset="-122"/>
                <a:cs typeface="Calibri" pitchFamily="34" charset="-120"/>
              </a:rPr>
              <a:t>Filter 10 years of data by year in one click.</a:t>
            </a:r>
            <a:endParaRPr lang="en-US" sz="1050"/>
          </a:p>
        </p:txBody>
      </p:sp>
      <p:sp>
        <p:nvSpPr>
          <p:cNvPr id="39" name="Shape 37"/>
          <p:cNvSpPr/>
          <p:nvPr/>
        </p:nvSpPr>
        <p:spPr>
          <a:xfrm>
            <a:off x="3154680" y="3401568"/>
            <a:ext cx="2788920" cy="1115568"/>
          </a:xfrm>
          <a:prstGeom prst="rect">
            <a:avLst/>
          </a:prstGeom>
          <a:solidFill>
            <a:srgbClr val="22345F"/>
          </a:solidFill>
          <a:ln w="12700">
            <a:solidFill>
              <a:srgbClr val="22345F"/>
            </a:solidFill>
            <a:prstDash val="solid"/>
          </a:ln>
        </p:spPr>
        <p:txBody>
          <a:bodyPr/>
          <a:lstStyle/>
          <a:p>
            <a:endParaRPr lang="en-US"/>
          </a:p>
        </p:txBody>
      </p:sp>
      <p:sp>
        <p:nvSpPr>
          <p:cNvPr id="40" name="Shape 38"/>
          <p:cNvSpPr/>
          <p:nvPr/>
        </p:nvSpPr>
        <p:spPr>
          <a:xfrm>
            <a:off x="3282696" y="3529584"/>
            <a:ext cx="457200" cy="457200"/>
          </a:xfrm>
          <a:prstGeom prst="ellipse">
            <a:avLst/>
          </a:prstGeom>
          <a:solidFill>
            <a:srgbClr val="B19231"/>
          </a:solidFill>
          <a:ln w="12700">
            <a:solidFill>
              <a:srgbClr val="B19231"/>
            </a:solidFill>
            <a:prstDash val="solid"/>
          </a:ln>
        </p:spPr>
        <p:txBody>
          <a:bodyPr/>
          <a:lstStyle/>
          <a:p>
            <a:endParaRPr lang="en-US"/>
          </a:p>
        </p:txBody>
      </p:sp>
      <p:sp>
        <p:nvSpPr>
          <p:cNvPr id="41" name="Text 39"/>
          <p:cNvSpPr/>
          <p:nvPr/>
        </p:nvSpPr>
        <p:spPr>
          <a:xfrm>
            <a:off x="3282696" y="3529584"/>
            <a:ext cx="457200" cy="457200"/>
          </a:xfrm>
          <a:prstGeom prst="rect">
            <a:avLst/>
          </a:prstGeom>
          <a:noFill/>
          <a:ln/>
        </p:spPr>
        <p:txBody>
          <a:bodyPr wrap="square" rtlCol="0" anchor="ctr"/>
          <a:lstStyle/>
          <a:p>
            <a:pPr marL="0" indent="0" algn="ctr">
              <a:buNone/>
            </a:pPr>
            <a:r>
              <a:rPr lang="en-US" sz="1100" b="1">
                <a:solidFill>
                  <a:srgbClr val="111B35"/>
                </a:solidFill>
                <a:latin typeface="Calibri" pitchFamily="34" charset="0"/>
                <a:ea typeface="Calibri" pitchFamily="34" charset="-122"/>
                <a:cs typeface="Calibri" pitchFamily="34" charset="-120"/>
              </a:rPr>
              <a:t>02</a:t>
            </a:r>
            <a:endParaRPr lang="en-US" sz="1100"/>
          </a:p>
        </p:txBody>
      </p:sp>
      <p:sp>
        <p:nvSpPr>
          <p:cNvPr id="42" name="Text 40"/>
          <p:cNvSpPr/>
          <p:nvPr/>
        </p:nvSpPr>
        <p:spPr>
          <a:xfrm>
            <a:off x="3867912" y="3493008"/>
            <a:ext cx="1956816" cy="329184"/>
          </a:xfrm>
          <a:prstGeom prst="rect">
            <a:avLst/>
          </a:prstGeom>
          <a:noFill/>
          <a:ln/>
        </p:spPr>
        <p:txBody>
          <a:bodyPr wrap="square" rtlCol="0" anchor="ctr"/>
          <a:lstStyle/>
          <a:p>
            <a:pPr marL="0" indent="0">
              <a:buNone/>
            </a:pPr>
            <a:r>
              <a:rPr lang="en-US" sz="1300" b="1">
                <a:solidFill>
                  <a:srgbClr val="D4AF50"/>
                </a:solidFill>
                <a:latin typeface="Calibri" pitchFamily="34" charset="0"/>
                <a:ea typeface="Calibri" pitchFamily="34" charset="-122"/>
                <a:cs typeface="Calibri" pitchFamily="34" charset="-120"/>
              </a:rPr>
              <a:t>Clearer Decisions</a:t>
            </a:r>
            <a:endParaRPr lang="en-US" sz="1300"/>
          </a:p>
        </p:txBody>
      </p:sp>
      <p:sp>
        <p:nvSpPr>
          <p:cNvPr id="43" name="Text 41"/>
          <p:cNvSpPr/>
          <p:nvPr/>
        </p:nvSpPr>
        <p:spPr>
          <a:xfrm>
            <a:off x="3867912" y="3840480"/>
            <a:ext cx="1956816" cy="594360"/>
          </a:xfrm>
          <a:prstGeom prst="rect">
            <a:avLst/>
          </a:prstGeom>
          <a:noFill/>
          <a:ln/>
        </p:spPr>
        <p:txBody>
          <a:bodyPr wrap="square" rtlCol="0" anchor="ctr"/>
          <a:lstStyle/>
          <a:p>
            <a:pPr marL="0" indent="0">
              <a:buNone/>
            </a:pPr>
            <a:r>
              <a:rPr lang="en-US" sz="1050">
                <a:solidFill>
                  <a:srgbClr val="C4CAD8"/>
                </a:solidFill>
                <a:latin typeface="Calibri" pitchFamily="34" charset="0"/>
                <a:ea typeface="Calibri" pitchFamily="34" charset="-122"/>
                <a:cs typeface="Calibri" pitchFamily="34" charset="-120"/>
              </a:rPr>
              <a:t>Moving avg + YoY table make trends obvious.</a:t>
            </a:r>
            <a:endParaRPr lang="en-US" sz="1050"/>
          </a:p>
        </p:txBody>
      </p:sp>
      <p:sp>
        <p:nvSpPr>
          <p:cNvPr id="44" name="Shape 42"/>
          <p:cNvSpPr/>
          <p:nvPr/>
        </p:nvSpPr>
        <p:spPr>
          <a:xfrm>
            <a:off x="6053328" y="3401568"/>
            <a:ext cx="2788920" cy="1115568"/>
          </a:xfrm>
          <a:prstGeom prst="rect">
            <a:avLst/>
          </a:prstGeom>
          <a:solidFill>
            <a:srgbClr val="22345F"/>
          </a:solidFill>
          <a:ln w="12700">
            <a:solidFill>
              <a:srgbClr val="22345F"/>
            </a:solidFill>
            <a:prstDash val="solid"/>
          </a:ln>
        </p:spPr>
        <p:txBody>
          <a:bodyPr/>
          <a:lstStyle/>
          <a:p>
            <a:endParaRPr lang="en-US"/>
          </a:p>
        </p:txBody>
      </p:sp>
      <p:sp>
        <p:nvSpPr>
          <p:cNvPr id="45" name="Shape 43"/>
          <p:cNvSpPr/>
          <p:nvPr/>
        </p:nvSpPr>
        <p:spPr>
          <a:xfrm>
            <a:off x="6181344" y="3529584"/>
            <a:ext cx="457200" cy="457200"/>
          </a:xfrm>
          <a:prstGeom prst="ellipse">
            <a:avLst/>
          </a:prstGeom>
          <a:solidFill>
            <a:srgbClr val="B19231"/>
          </a:solidFill>
          <a:ln w="12700">
            <a:solidFill>
              <a:srgbClr val="B19231"/>
            </a:solidFill>
            <a:prstDash val="solid"/>
          </a:ln>
        </p:spPr>
        <p:txBody>
          <a:bodyPr/>
          <a:lstStyle/>
          <a:p>
            <a:endParaRPr lang="en-US"/>
          </a:p>
        </p:txBody>
      </p:sp>
      <p:sp>
        <p:nvSpPr>
          <p:cNvPr id="46" name="Text 44"/>
          <p:cNvSpPr/>
          <p:nvPr/>
        </p:nvSpPr>
        <p:spPr>
          <a:xfrm>
            <a:off x="6181344" y="3529584"/>
            <a:ext cx="457200" cy="457200"/>
          </a:xfrm>
          <a:prstGeom prst="rect">
            <a:avLst/>
          </a:prstGeom>
          <a:noFill/>
          <a:ln/>
        </p:spPr>
        <p:txBody>
          <a:bodyPr wrap="square" rtlCol="0" anchor="ctr"/>
          <a:lstStyle/>
          <a:p>
            <a:pPr marL="0" indent="0" algn="ctr">
              <a:buNone/>
            </a:pPr>
            <a:r>
              <a:rPr lang="en-US" sz="1100" b="1">
                <a:solidFill>
                  <a:srgbClr val="111B35"/>
                </a:solidFill>
                <a:latin typeface="Calibri" pitchFamily="34" charset="0"/>
                <a:ea typeface="Calibri" pitchFamily="34" charset="-122"/>
                <a:cs typeface="Calibri" pitchFamily="34" charset="-120"/>
              </a:rPr>
              <a:t>03</a:t>
            </a:r>
            <a:endParaRPr lang="en-US" sz="1100"/>
          </a:p>
        </p:txBody>
      </p:sp>
      <p:sp>
        <p:nvSpPr>
          <p:cNvPr id="47" name="Text 45"/>
          <p:cNvSpPr/>
          <p:nvPr/>
        </p:nvSpPr>
        <p:spPr>
          <a:xfrm>
            <a:off x="6766560" y="3493008"/>
            <a:ext cx="1956816" cy="329184"/>
          </a:xfrm>
          <a:prstGeom prst="rect">
            <a:avLst/>
          </a:prstGeom>
          <a:noFill/>
          <a:ln/>
        </p:spPr>
        <p:txBody>
          <a:bodyPr wrap="square" rtlCol="0" anchor="ctr"/>
          <a:lstStyle/>
          <a:p>
            <a:pPr marL="0" indent="0">
              <a:buNone/>
            </a:pPr>
            <a:r>
              <a:rPr lang="en-US" sz="1300" b="1">
                <a:solidFill>
                  <a:srgbClr val="D4AF50"/>
                </a:solidFill>
                <a:latin typeface="Calibri" pitchFamily="34" charset="0"/>
                <a:ea typeface="Calibri" pitchFamily="34" charset="-122"/>
                <a:cs typeface="Calibri" pitchFamily="34" charset="-120"/>
              </a:rPr>
              <a:t>Reusable</a:t>
            </a:r>
            <a:endParaRPr lang="en-US" sz="1300"/>
          </a:p>
        </p:txBody>
      </p:sp>
      <p:sp>
        <p:nvSpPr>
          <p:cNvPr id="48" name="Text 46"/>
          <p:cNvSpPr/>
          <p:nvPr/>
        </p:nvSpPr>
        <p:spPr>
          <a:xfrm>
            <a:off x="6766560" y="3840480"/>
            <a:ext cx="1956816" cy="594360"/>
          </a:xfrm>
          <a:prstGeom prst="rect">
            <a:avLst/>
          </a:prstGeom>
          <a:noFill/>
          <a:ln/>
        </p:spPr>
        <p:txBody>
          <a:bodyPr wrap="square" rtlCol="0" anchor="ctr"/>
          <a:lstStyle/>
          <a:p>
            <a:pPr marL="0" indent="0">
              <a:buNone/>
            </a:pPr>
            <a:r>
              <a:rPr lang="en-US" sz="1050">
                <a:solidFill>
                  <a:srgbClr val="C4CAD8"/>
                </a:solidFill>
                <a:latin typeface="Calibri" pitchFamily="34" charset="0"/>
                <a:ea typeface="Calibri" pitchFamily="34" charset="-122"/>
                <a:cs typeface="Calibri" pitchFamily="34" charset="-120"/>
              </a:rPr>
              <a:t>Add new data yearly without rebuilding anything.</a:t>
            </a:r>
            <a:endParaRPr lang="en-US" sz="10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B35"/>
        </a:solidFill>
        <a:effectLst/>
      </p:bgPr>
    </p:bg>
    <p:spTree>
      <p:nvGrpSpPr>
        <p:cNvPr id="1" name=""/>
        <p:cNvGrpSpPr/>
        <p:nvPr/>
      </p:nvGrpSpPr>
      <p:grpSpPr>
        <a:xfrm>
          <a:off x="0" y="0"/>
          <a:ext cx="0" cy="0"/>
          <a:chOff x="0" y="0"/>
          <a:chExt cx="0" cy="0"/>
        </a:xfrm>
      </p:grpSpPr>
      <p:sp>
        <p:nvSpPr>
          <p:cNvPr id="2" name="Shape 0"/>
          <p:cNvSpPr/>
          <p:nvPr/>
        </p:nvSpPr>
        <p:spPr>
          <a:xfrm>
            <a:off x="0" y="0"/>
            <a:ext cx="9144000" cy="1371600"/>
          </a:xfrm>
          <a:prstGeom prst="rect">
            <a:avLst/>
          </a:prstGeom>
          <a:solidFill>
            <a:srgbClr val="22345F"/>
          </a:solidFill>
          <a:ln w="12700">
            <a:solidFill>
              <a:srgbClr val="22345F"/>
            </a:solidFill>
            <a:prstDash val="solid"/>
          </a:ln>
        </p:spPr>
        <p:txBody>
          <a:bodyPr/>
          <a:lstStyle/>
          <a:p>
            <a:endParaRPr lang="en-US"/>
          </a:p>
        </p:txBody>
      </p:sp>
      <p:sp>
        <p:nvSpPr>
          <p:cNvPr id="3" name="Shape 1"/>
          <p:cNvSpPr/>
          <p:nvPr/>
        </p:nvSpPr>
        <p:spPr>
          <a:xfrm>
            <a:off x="0" y="1371600"/>
            <a:ext cx="9144000" cy="54864"/>
          </a:xfrm>
          <a:prstGeom prst="rect">
            <a:avLst/>
          </a:prstGeom>
          <a:solidFill>
            <a:srgbClr val="B19231"/>
          </a:solidFill>
          <a:ln w="12700">
            <a:solidFill>
              <a:srgbClr val="B19231"/>
            </a:solidFill>
            <a:prstDash val="solid"/>
          </a:ln>
        </p:spPr>
        <p:txBody>
          <a:bodyPr/>
          <a:lstStyle/>
          <a:p>
            <a:endParaRPr lang="en-US"/>
          </a:p>
        </p:txBody>
      </p:sp>
      <p:sp>
        <p:nvSpPr>
          <p:cNvPr id="4" name="Text 2"/>
          <p:cNvSpPr/>
          <p:nvPr/>
        </p:nvSpPr>
        <p:spPr>
          <a:xfrm>
            <a:off x="347472" y="91440"/>
            <a:ext cx="8412480" cy="54864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Future Enhancements</a:t>
            </a:r>
            <a:endParaRPr lang="en-US" sz="2600"/>
          </a:p>
        </p:txBody>
      </p:sp>
      <p:sp>
        <p:nvSpPr>
          <p:cNvPr id="5" name="Text 3"/>
          <p:cNvSpPr/>
          <p:nvPr/>
        </p:nvSpPr>
        <p:spPr>
          <a:xfrm>
            <a:off x="347472" y="658368"/>
            <a:ext cx="8412480" cy="384048"/>
          </a:xfrm>
          <a:prstGeom prst="rect">
            <a:avLst/>
          </a:prstGeom>
          <a:noFill/>
          <a:ln/>
        </p:spPr>
        <p:txBody>
          <a:bodyPr wrap="square" rtlCol="0" anchor="ctr"/>
          <a:lstStyle/>
          <a:p>
            <a:pPr marL="0" indent="0">
              <a:buNone/>
            </a:pPr>
            <a:r>
              <a:rPr lang="en-US" sz="1400" i="1">
                <a:solidFill>
                  <a:srgbClr val="D4AF50"/>
                </a:solidFill>
                <a:latin typeface="Calibri" pitchFamily="34" charset="0"/>
                <a:ea typeface="Calibri" pitchFamily="34" charset="-122"/>
                <a:cs typeface="Calibri" pitchFamily="34" charset="-120"/>
              </a:rPr>
              <a:t>The dashboard works. Here is where it goes next.</a:t>
            </a:r>
            <a:endParaRPr lang="en-US" sz="1400"/>
          </a:p>
        </p:txBody>
      </p:sp>
      <p:sp>
        <p:nvSpPr>
          <p:cNvPr id="6" name="Shape 4"/>
          <p:cNvSpPr/>
          <p:nvPr/>
        </p:nvSpPr>
        <p:spPr>
          <a:xfrm>
            <a:off x="256032" y="1572768"/>
            <a:ext cx="4169664" cy="1261872"/>
          </a:xfrm>
          <a:prstGeom prst="rect">
            <a:avLst/>
          </a:prstGeom>
          <a:solidFill>
            <a:srgbClr val="1C2B52"/>
          </a:solidFill>
          <a:ln w="12700">
            <a:solidFill>
              <a:srgbClr val="3A5080"/>
            </a:solidFill>
            <a:prstDash val="solid"/>
          </a:ln>
        </p:spPr>
        <p:txBody>
          <a:bodyPr/>
          <a:lstStyle/>
          <a:p>
            <a:endParaRPr lang="en-US"/>
          </a:p>
        </p:txBody>
      </p:sp>
      <p:sp>
        <p:nvSpPr>
          <p:cNvPr id="7" name="Shape 5"/>
          <p:cNvSpPr/>
          <p:nvPr/>
        </p:nvSpPr>
        <p:spPr>
          <a:xfrm>
            <a:off x="256032" y="1572768"/>
            <a:ext cx="54864" cy="1261872"/>
          </a:xfrm>
          <a:prstGeom prst="rect">
            <a:avLst/>
          </a:prstGeom>
          <a:solidFill>
            <a:srgbClr val="B19231"/>
          </a:solidFill>
          <a:ln w="12700">
            <a:solidFill>
              <a:srgbClr val="B19231"/>
            </a:solidFill>
            <a:prstDash val="solid"/>
          </a:ln>
        </p:spPr>
        <p:txBody>
          <a:bodyPr/>
          <a:lstStyle/>
          <a:p>
            <a:endParaRPr lang="en-US"/>
          </a:p>
        </p:txBody>
      </p:sp>
      <p:sp>
        <p:nvSpPr>
          <p:cNvPr id="8" name="Shape 6"/>
          <p:cNvSpPr/>
          <p:nvPr/>
        </p:nvSpPr>
        <p:spPr>
          <a:xfrm>
            <a:off x="384048" y="1938528"/>
            <a:ext cx="402336" cy="402336"/>
          </a:xfrm>
          <a:prstGeom prst="ellipse">
            <a:avLst/>
          </a:prstGeom>
          <a:solidFill>
            <a:srgbClr val="B19231"/>
          </a:solidFill>
          <a:ln w="12700">
            <a:solidFill>
              <a:srgbClr val="B19231"/>
            </a:solidFill>
            <a:prstDash val="solid"/>
          </a:ln>
        </p:spPr>
        <p:txBody>
          <a:bodyPr/>
          <a:lstStyle/>
          <a:p>
            <a:endParaRPr lang="en-US"/>
          </a:p>
        </p:txBody>
      </p:sp>
      <p:sp>
        <p:nvSpPr>
          <p:cNvPr id="9" name="Text 7"/>
          <p:cNvSpPr/>
          <p:nvPr/>
        </p:nvSpPr>
        <p:spPr>
          <a:xfrm>
            <a:off x="384048" y="1938528"/>
            <a:ext cx="402336" cy="402336"/>
          </a:xfrm>
          <a:prstGeom prst="rect">
            <a:avLst/>
          </a:prstGeom>
          <a:noFill/>
          <a:ln/>
        </p:spPr>
        <p:txBody>
          <a:bodyPr wrap="square" rtlCol="0" anchor="ctr"/>
          <a:lstStyle/>
          <a:p>
            <a:pPr marL="0" indent="0" algn="ctr">
              <a:buNone/>
            </a:pPr>
            <a:r>
              <a:rPr lang="en-US" sz="1100" b="1">
                <a:solidFill>
                  <a:srgbClr val="111B35"/>
                </a:solidFill>
                <a:latin typeface="Calibri" pitchFamily="34" charset="0"/>
                <a:ea typeface="Calibri" pitchFamily="34" charset="-122"/>
                <a:cs typeface="Calibri" pitchFamily="34" charset="-120"/>
              </a:rPr>
              <a:t>01</a:t>
            </a:r>
            <a:endParaRPr lang="en-US" sz="1100"/>
          </a:p>
        </p:txBody>
      </p:sp>
      <p:sp>
        <p:nvSpPr>
          <p:cNvPr id="10" name="Text 8"/>
          <p:cNvSpPr/>
          <p:nvPr/>
        </p:nvSpPr>
        <p:spPr>
          <a:xfrm>
            <a:off x="896112" y="1664208"/>
            <a:ext cx="3419856" cy="347472"/>
          </a:xfrm>
          <a:prstGeom prst="rect">
            <a:avLst/>
          </a:prstGeom>
          <a:noFill/>
          <a:ln/>
        </p:spPr>
        <p:txBody>
          <a:bodyPr wrap="square" rtlCol="0" anchor="ctr"/>
          <a:lstStyle/>
          <a:p>
            <a:pPr marL="0" indent="0">
              <a:buNone/>
            </a:pPr>
            <a:r>
              <a:rPr lang="en-US" sz="1300" b="1">
                <a:solidFill>
                  <a:srgbClr val="D4AF50"/>
                </a:solidFill>
                <a:latin typeface="Calibri" pitchFamily="34" charset="0"/>
                <a:ea typeface="Calibri" pitchFamily="34" charset="-122"/>
                <a:cs typeface="Calibri" pitchFamily="34" charset="-120"/>
              </a:rPr>
              <a:t>Real-Time Price Feed</a:t>
            </a:r>
            <a:endParaRPr lang="en-US" sz="1300"/>
          </a:p>
        </p:txBody>
      </p:sp>
      <p:sp>
        <p:nvSpPr>
          <p:cNvPr id="11" name="Text 9"/>
          <p:cNvSpPr/>
          <p:nvPr/>
        </p:nvSpPr>
        <p:spPr>
          <a:xfrm>
            <a:off x="896112" y="2029968"/>
            <a:ext cx="3419856" cy="713232"/>
          </a:xfrm>
          <a:prstGeom prst="rect">
            <a:avLst/>
          </a:prstGeom>
          <a:noFill/>
          <a:ln/>
        </p:spPr>
        <p:txBody>
          <a:bodyPr wrap="square" rtlCol="0" anchor="ctr"/>
          <a:lstStyle/>
          <a:p>
            <a:pPr marL="0" indent="0">
              <a:buNone/>
            </a:pPr>
            <a:r>
              <a:rPr lang="en-US" sz="1100">
                <a:solidFill>
                  <a:srgbClr val="FFFFFF"/>
                </a:solidFill>
                <a:latin typeface="Calibri" pitchFamily="34" charset="0"/>
                <a:ea typeface="Calibri" pitchFamily="34" charset="-122"/>
                <a:cs typeface="Calibri" pitchFamily="34" charset="-120"/>
              </a:rPr>
              <a:t>Connect to a live gold price API so the dashboard always shows current data without manual CSV updates.</a:t>
            </a:r>
            <a:endParaRPr lang="en-US" sz="1100"/>
          </a:p>
        </p:txBody>
      </p:sp>
      <p:sp>
        <p:nvSpPr>
          <p:cNvPr id="12" name="Shape 10"/>
          <p:cNvSpPr/>
          <p:nvPr/>
        </p:nvSpPr>
        <p:spPr>
          <a:xfrm>
            <a:off x="4700016" y="1572768"/>
            <a:ext cx="4169664" cy="1261872"/>
          </a:xfrm>
          <a:prstGeom prst="rect">
            <a:avLst/>
          </a:prstGeom>
          <a:solidFill>
            <a:srgbClr val="1C2B52"/>
          </a:solidFill>
          <a:ln w="12700">
            <a:solidFill>
              <a:srgbClr val="3A5080"/>
            </a:solidFill>
            <a:prstDash val="solid"/>
          </a:ln>
        </p:spPr>
        <p:txBody>
          <a:bodyPr/>
          <a:lstStyle/>
          <a:p>
            <a:endParaRPr lang="en-US"/>
          </a:p>
        </p:txBody>
      </p:sp>
      <p:sp>
        <p:nvSpPr>
          <p:cNvPr id="13" name="Shape 11"/>
          <p:cNvSpPr/>
          <p:nvPr/>
        </p:nvSpPr>
        <p:spPr>
          <a:xfrm>
            <a:off x="4700016" y="1572768"/>
            <a:ext cx="54864" cy="1261872"/>
          </a:xfrm>
          <a:prstGeom prst="rect">
            <a:avLst/>
          </a:prstGeom>
          <a:solidFill>
            <a:srgbClr val="B19231"/>
          </a:solidFill>
          <a:ln w="12700">
            <a:solidFill>
              <a:srgbClr val="B19231"/>
            </a:solidFill>
            <a:prstDash val="solid"/>
          </a:ln>
        </p:spPr>
        <p:txBody>
          <a:bodyPr/>
          <a:lstStyle/>
          <a:p>
            <a:endParaRPr lang="en-US"/>
          </a:p>
        </p:txBody>
      </p:sp>
      <p:sp>
        <p:nvSpPr>
          <p:cNvPr id="14" name="Shape 12"/>
          <p:cNvSpPr/>
          <p:nvPr/>
        </p:nvSpPr>
        <p:spPr>
          <a:xfrm>
            <a:off x="4828032" y="1938528"/>
            <a:ext cx="402336" cy="402336"/>
          </a:xfrm>
          <a:prstGeom prst="ellipse">
            <a:avLst/>
          </a:prstGeom>
          <a:solidFill>
            <a:srgbClr val="B19231"/>
          </a:solidFill>
          <a:ln w="12700">
            <a:solidFill>
              <a:srgbClr val="B19231"/>
            </a:solidFill>
            <a:prstDash val="solid"/>
          </a:ln>
        </p:spPr>
        <p:txBody>
          <a:bodyPr/>
          <a:lstStyle/>
          <a:p>
            <a:endParaRPr lang="en-US"/>
          </a:p>
        </p:txBody>
      </p:sp>
      <p:sp>
        <p:nvSpPr>
          <p:cNvPr id="15" name="Text 13"/>
          <p:cNvSpPr/>
          <p:nvPr/>
        </p:nvSpPr>
        <p:spPr>
          <a:xfrm>
            <a:off x="4828032" y="1938528"/>
            <a:ext cx="402336" cy="402336"/>
          </a:xfrm>
          <a:prstGeom prst="rect">
            <a:avLst/>
          </a:prstGeom>
          <a:noFill/>
          <a:ln/>
        </p:spPr>
        <p:txBody>
          <a:bodyPr wrap="square" rtlCol="0" anchor="ctr"/>
          <a:lstStyle/>
          <a:p>
            <a:pPr marL="0" indent="0" algn="ctr">
              <a:buNone/>
            </a:pPr>
            <a:r>
              <a:rPr lang="en-US" sz="1100" b="1">
                <a:solidFill>
                  <a:srgbClr val="111B35"/>
                </a:solidFill>
                <a:latin typeface="Calibri" pitchFamily="34" charset="0"/>
                <a:ea typeface="Calibri" pitchFamily="34" charset="-122"/>
                <a:cs typeface="Calibri" pitchFamily="34" charset="-120"/>
              </a:rPr>
              <a:t>02</a:t>
            </a:r>
            <a:endParaRPr lang="en-US" sz="1100"/>
          </a:p>
        </p:txBody>
      </p:sp>
      <p:sp>
        <p:nvSpPr>
          <p:cNvPr id="16" name="Text 14"/>
          <p:cNvSpPr/>
          <p:nvPr/>
        </p:nvSpPr>
        <p:spPr>
          <a:xfrm>
            <a:off x="5340096" y="1664208"/>
            <a:ext cx="3419856" cy="347472"/>
          </a:xfrm>
          <a:prstGeom prst="rect">
            <a:avLst/>
          </a:prstGeom>
          <a:noFill/>
          <a:ln/>
        </p:spPr>
        <p:txBody>
          <a:bodyPr wrap="square" rtlCol="0" anchor="ctr"/>
          <a:lstStyle/>
          <a:p>
            <a:pPr marL="0" indent="0">
              <a:buNone/>
            </a:pPr>
            <a:r>
              <a:rPr lang="en-US" sz="1300" b="1">
                <a:solidFill>
                  <a:srgbClr val="D4AF50"/>
                </a:solidFill>
                <a:latin typeface="Calibri" pitchFamily="34" charset="0"/>
                <a:ea typeface="Calibri" pitchFamily="34" charset="-122"/>
                <a:cs typeface="Calibri" pitchFamily="34" charset="-120"/>
              </a:rPr>
              <a:t>Forecasting Model (ARIMA)</a:t>
            </a:r>
            <a:endParaRPr lang="en-US" sz="1300"/>
          </a:p>
        </p:txBody>
      </p:sp>
      <p:sp>
        <p:nvSpPr>
          <p:cNvPr id="17" name="Text 15"/>
          <p:cNvSpPr/>
          <p:nvPr/>
        </p:nvSpPr>
        <p:spPr>
          <a:xfrm>
            <a:off x="5340096" y="2029968"/>
            <a:ext cx="3419856" cy="713232"/>
          </a:xfrm>
          <a:prstGeom prst="rect">
            <a:avLst/>
          </a:prstGeom>
          <a:noFill/>
          <a:ln/>
        </p:spPr>
        <p:txBody>
          <a:bodyPr wrap="square" lIns="91440" tIns="45720" rIns="91440" bIns="45720" rtlCol="0" anchor="ctr"/>
          <a:lstStyle/>
          <a:p>
            <a:r>
              <a:rPr lang="en-US" sz="1100" dirty="0">
                <a:solidFill>
                  <a:srgbClr val="FFFFFF"/>
                </a:solidFill>
                <a:ea typeface="+mn-lt"/>
                <a:cs typeface="+mn-lt"/>
              </a:rPr>
              <a:t>Refine ARIMA models and sync live APIs for real-time forecast validation.</a:t>
            </a:r>
            <a:endParaRPr lang="en-US" dirty="0">
              <a:ea typeface="+mn-lt"/>
              <a:cs typeface="+mn-lt"/>
            </a:endParaRPr>
          </a:p>
        </p:txBody>
      </p:sp>
      <p:sp>
        <p:nvSpPr>
          <p:cNvPr id="18" name="Shape 16"/>
          <p:cNvSpPr/>
          <p:nvPr/>
        </p:nvSpPr>
        <p:spPr>
          <a:xfrm>
            <a:off x="256032" y="3035808"/>
            <a:ext cx="4169664" cy="1261872"/>
          </a:xfrm>
          <a:prstGeom prst="rect">
            <a:avLst/>
          </a:prstGeom>
          <a:solidFill>
            <a:srgbClr val="1C2B52"/>
          </a:solidFill>
          <a:ln w="12700">
            <a:solidFill>
              <a:srgbClr val="3A5080"/>
            </a:solidFill>
            <a:prstDash val="solid"/>
          </a:ln>
        </p:spPr>
        <p:txBody>
          <a:bodyPr/>
          <a:lstStyle/>
          <a:p>
            <a:endParaRPr lang="en-US"/>
          </a:p>
        </p:txBody>
      </p:sp>
      <p:sp>
        <p:nvSpPr>
          <p:cNvPr id="19" name="Shape 17"/>
          <p:cNvSpPr/>
          <p:nvPr/>
        </p:nvSpPr>
        <p:spPr>
          <a:xfrm>
            <a:off x="256032" y="3035808"/>
            <a:ext cx="54864" cy="1261872"/>
          </a:xfrm>
          <a:prstGeom prst="rect">
            <a:avLst/>
          </a:prstGeom>
          <a:solidFill>
            <a:srgbClr val="B19231"/>
          </a:solidFill>
          <a:ln w="12700">
            <a:solidFill>
              <a:srgbClr val="B19231"/>
            </a:solidFill>
            <a:prstDash val="solid"/>
          </a:ln>
        </p:spPr>
        <p:txBody>
          <a:bodyPr/>
          <a:lstStyle/>
          <a:p>
            <a:endParaRPr lang="en-US"/>
          </a:p>
        </p:txBody>
      </p:sp>
      <p:sp>
        <p:nvSpPr>
          <p:cNvPr id="20" name="Shape 18"/>
          <p:cNvSpPr/>
          <p:nvPr/>
        </p:nvSpPr>
        <p:spPr>
          <a:xfrm>
            <a:off x="384048" y="3401568"/>
            <a:ext cx="402336" cy="402336"/>
          </a:xfrm>
          <a:prstGeom prst="ellipse">
            <a:avLst/>
          </a:prstGeom>
          <a:solidFill>
            <a:srgbClr val="B19231"/>
          </a:solidFill>
          <a:ln w="12700">
            <a:solidFill>
              <a:srgbClr val="B19231"/>
            </a:solidFill>
            <a:prstDash val="solid"/>
          </a:ln>
        </p:spPr>
        <p:txBody>
          <a:bodyPr/>
          <a:lstStyle/>
          <a:p>
            <a:endParaRPr lang="en-US"/>
          </a:p>
        </p:txBody>
      </p:sp>
      <p:sp>
        <p:nvSpPr>
          <p:cNvPr id="21" name="Text 19"/>
          <p:cNvSpPr/>
          <p:nvPr/>
        </p:nvSpPr>
        <p:spPr>
          <a:xfrm>
            <a:off x="384048" y="3401568"/>
            <a:ext cx="402336" cy="402336"/>
          </a:xfrm>
          <a:prstGeom prst="rect">
            <a:avLst/>
          </a:prstGeom>
          <a:noFill/>
          <a:ln/>
        </p:spPr>
        <p:txBody>
          <a:bodyPr wrap="square" rtlCol="0" anchor="ctr"/>
          <a:lstStyle/>
          <a:p>
            <a:pPr marL="0" indent="0" algn="ctr">
              <a:buNone/>
            </a:pPr>
            <a:r>
              <a:rPr lang="en-US" sz="1100" b="1">
                <a:solidFill>
                  <a:srgbClr val="111B35"/>
                </a:solidFill>
                <a:latin typeface="Calibri" pitchFamily="34" charset="0"/>
                <a:ea typeface="Calibri" pitchFamily="34" charset="-122"/>
                <a:cs typeface="Calibri" pitchFamily="34" charset="-120"/>
              </a:rPr>
              <a:t>03</a:t>
            </a:r>
            <a:endParaRPr lang="en-US" sz="1100"/>
          </a:p>
        </p:txBody>
      </p:sp>
      <p:sp>
        <p:nvSpPr>
          <p:cNvPr id="22" name="Text 20"/>
          <p:cNvSpPr/>
          <p:nvPr/>
        </p:nvSpPr>
        <p:spPr>
          <a:xfrm>
            <a:off x="896112" y="3127248"/>
            <a:ext cx="3419856" cy="347472"/>
          </a:xfrm>
          <a:prstGeom prst="rect">
            <a:avLst/>
          </a:prstGeom>
          <a:noFill/>
          <a:ln/>
        </p:spPr>
        <p:txBody>
          <a:bodyPr wrap="square" rtlCol="0" anchor="ctr"/>
          <a:lstStyle/>
          <a:p>
            <a:pPr marL="0" indent="0">
              <a:buNone/>
            </a:pPr>
            <a:r>
              <a:rPr lang="en-US" sz="1300" b="1">
                <a:solidFill>
                  <a:srgbClr val="D4AF50"/>
                </a:solidFill>
                <a:latin typeface="Calibri" pitchFamily="34" charset="0"/>
                <a:ea typeface="Calibri" pitchFamily="34" charset="-122"/>
                <a:cs typeface="Calibri" pitchFamily="34" charset="-120"/>
              </a:rPr>
              <a:t>Multi-Commodity Comparison</a:t>
            </a:r>
            <a:endParaRPr lang="en-US" sz="1300"/>
          </a:p>
        </p:txBody>
      </p:sp>
      <p:sp>
        <p:nvSpPr>
          <p:cNvPr id="23" name="Text 21"/>
          <p:cNvSpPr/>
          <p:nvPr/>
        </p:nvSpPr>
        <p:spPr>
          <a:xfrm>
            <a:off x="896112" y="3493008"/>
            <a:ext cx="3419856" cy="713232"/>
          </a:xfrm>
          <a:prstGeom prst="rect">
            <a:avLst/>
          </a:prstGeom>
          <a:noFill/>
          <a:ln/>
        </p:spPr>
        <p:txBody>
          <a:bodyPr wrap="square" rtlCol="0" anchor="ctr"/>
          <a:lstStyle/>
          <a:p>
            <a:pPr marL="0" indent="0">
              <a:buNone/>
            </a:pPr>
            <a:r>
              <a:rPr lang="en-US" sz="1100">
                <a:solidFill>
                  <a:srgbClr val="FFFFFF"/>
                </a:solidFill>
                <a:latin typeface="Calibri" pitchFamily="34" charset="0"/>
                <a:ea typeface="Calibri" pitchFamily="34" charset="-122"/>
                <a:cs typeface="Calibri" pitchFamily="34" charset="-120"/>
              </a:rPr>
              <a:t>Expand the dataset to include silver, oil, and the S&amp;P 500 so gold can be benchmarked against other assets.</a:t>
            </a:r>
            <a:endParaRPr lang="en-US" sz="1100"/>
          </a:p>
        </p:txBody>
      </p:sp>
      <p:sp>
        <p:nvSpPr>
          <p:cNvPr id="24" name="Shape 22"/>
          <p:cNvSpPr/>
          <p:nvPr/>
        </p:nvSpPr>
        <p:spPr>
          <a:xfrm>
            <a:off x="4700016" y="3035808"/>
            <a:ext cx="4169664" cy="1261872"/>
          </a:xfrm>
          <a:prstGeom prst="rect">
            <a:avLst/>
          </a:prstGeom>
          <a:solidFill>
            <a:srgbClr val="1C2B52"/>
          </a:solidFill>
          <a:ln w="12700">
            <a:solidFill>
              <a:srgbClr val="3A5080"/>
            </a:solidFill>
            <a:prstDash val="solid"/>
          </a:ln>
        </p:spPr>
        <p:txBody>
          <a:bodyPr/>
          <a:lstStyle/>
          <a:p>
            <a:endParaRPr lang="en-US"/>
          </a:p>
        </p:txBody>
      </p:sp>
      <p:sp>
        <p:nvSpPr>
          <p:cNvPr id="25" name="Shape 23"/>
          <p:cNvSpPr/>
          <p:nvPr/>
        </p:nvSpPr>
        <p:spPr>
          <a:xfrm>
            <a:off x="4700016" y="3035808"/>
            <a:ext cx="54864" cy="1261872"/>
          </a:xfrm>
          <a:prstGeom prst="rect">
            <a:avLst/>
          </a:prstGeom>
          <a:solidFill>
            <a:srgbClr val="B19231"/>
          </a:solidFill>
          <a:ln w="12700">
            <a:solidFill>
              <a:srgbClr val="B19231"/>
            </a:solidFill>
            <a:prstDash val="solid"/>
          </a:ln>
        </p:spPr>
        <p:txBody>
          <a:bodyPr/>
          <a:lstStyle/>
          <a:p>
            <a:endParaRPr lang="en-US"/>
          </a:p>
        </p:txBody>
      </p:sp>
      <p:sp>
        <p:nvSpPr>
          <p:cNvPr id="26" name="Shape 24"/>
          <p:cNvSpPr/>
          <p:nvPr/>
        </p:nvSpPr>
        <p:spPr>
          <a:xfrm>
            <a:off x="4828032" y="3401568"/>
            <a:ext cx="402336" cy="402336"/>
          </a:xfrm>
          <a:prstGeom prst="ellipse">
            <a:avLst/>
          </a:prstGeom>
          <a:solidFill>
            <a:srgbClr val="B19231"/>
          </a:solidFill>
          <a:ln w="12700">
            <a:solidFill>
              <a:srgbClr val="B19231"/>
            </a:solidFill>
            <a:prstDash val="solid"/>
          </a:ln>
        </p:spPr>
        <p:txBody>
          <a:bodyPr/>
          <a:lstStyle/>
          <a:p>
            <a:endParaRPr lang="en-US"/>
          </a:p>
        </p:txBody>
      </p:sp>
      <p:sp>
        <p:nvSpPr>
          <p:cNvPr id="27" name="Text 25"/>
          <p:cNvSpPr/>
          <p:nvPr/>
        </p:nvSpPr>
        <p:spPr>
          <a:xfrm>
            <a:off x="4828032" y="3401568"/>
            <a:ext cx="402336" cy="402336"/>
          </a:xfrm>
          <a:prstGeom prst="rect">
            <a:avLst/>
          </a:prstGeom>
          <a:noFill/>
          <a:ln/>
        </p:spPr>
        <p:txBody>
          <a:bodyPr wrap="square" rtlCol="0" anchor="ctr"/>
          <a:lstStyle/>
          <a:p>
            <a:pPr marL="0" indent="0" algn="ctr">
              <a:buNone/>
            </a:pPr>
            <a:r>
              <a:rPr lang="en-US" sz="1100" b="1">
                <a:solidFill>
                  <a:srgbClr val="111B35"/>
                </a:solidFill>
                <a:latin typeface="Calibri" pitchFamily="34" charset="0"/>
                <a:ea typeface="Calibri" pitchFamily="34" charset="-122"/>
                <a:cs typeface="Calibri" pitchFamily="34" charset="-120"/>
              </a:rPr>
              <a:t>04</a:t>
            </a:r>
            <a:endParaRPr lang="en-US" sz="1100"/>
          </a:p>
        </p:txBody>
      </p:sp>
      <p:sp>
        <p:nvSpPr>
          <p:cNvPr id="28" name="Text 26"/>
          <p:cNvSpPr/>
          <p:nvPr/>
        </p:nvSpPr>
        <p:spPr>
          <a:xfrm>
            <a:off x="5340096" y="3127248"/>
            <a:ext cx="3419856" cy="347472"/>
          </a:xfrm>
          <a:prstGeom prst="rect">
            <a:avLst/>
          </a:prstGeom>
          <a:noFill/>
          <a:ln/>
        </p:spPr>
        <p:txBody>
          <a:bodyPr wrap="square" rtlCol="0" anchor="ctr"/>
          <a:lstStyle/>
          <a:p>
            <a:pPr marL="0" indent="0">
              <a:buNone/>
            </a:pPr>
            <a:r>
              <a:rPr lang="en-US" sz="1300" b="1">
                <a:solidFill>
                  <a:srgbClr val="D4AF50"/>
                </a:solidFill>
                <a:latin typeface="Calibri" pitchFamily="34" charset="0"/>
                <a:ea typeface="Calibri" pitchFamily="34" charset="-122"/>
                <a:cs typeface="Calibri" pitchFamily="34" charset="-120"/>
              </a:rPr>
              <a:t>Automated Data Refresh</a:t>
            </a:r>
            <a:endParaRPr lang="en-US" sz="1300"/>
          </a:p>
        </p:txBody>
      </p:sp>
      <p:sp>
        <p:nvSpPr>
          <p:cNvPr id="29" name="Text 27"/>
          <p:cNvSpPr/>
          <p:nvPr/>
        </p:nvSpPr>
        <p:spPr>
          <a:xfrm>
            <a:off x="5340096" y="3493008"/>
            <a:ext cx="3419856" cy="713232"/>
          </a:xfrm>
          <a:prstGeom prst="rect">
            <a:avLst/>
          </a:prstGeom>
          <a:noFill/>
          <a:ln/>
        </p:spPr>
        <p:txBody>
          <a:bodyPr wrap="square" rtlCol="0" anchor="ctr"/>
          <a:lstStyle/>
          <a:p>
            <a:pPr marL="0" indent="0">
              <a:buNone/>
            </a:pPr>
            <a:r>
              <a:rPr lang="en-US" sz="1100">
                <a:solidFill>
                  <a:srgbClr val="FFFFFF"/>
                </a:solidFill>
                <a:latin typeface="Calibri" pitchFamily="34" charset="0"/>
                <a:ea typeface="Calibri" pitchFamily="34" charset="-122"/>
                <a:cs typeface="Calibri" pitchFamily="34" charset="-120"/>
              </a:rPr>
              <a:t>Schedule Power BI to pull updated data on its own so the dashboard stays current with no manual work required.</a:t>
            </a:r>
            <a:endParaRPr lang="en-US" sz="1100"/>
          </a:p>
        </p:txBody>
      </p:sp>
      <p:sp>
        <p:nvSpPr>
          <p:cNvPr id="30" name="Shape 28"/>
          <p:cNvSpPr/>
          <p:nvPr/>
        </p:nvSpPr>
        <p:spPr>
          <a:xfrm>
            <a:off x="0" y="4754880"/>
            <a:ext cx="9144000" cy="388620"/>
          </a:xfrm>
          <a:prstGeom prst="rect">
            <a:avLst/>
          </a:prstGeom>
          <a:solidFill>
            <a:srgbClr val="B19231"/>
          </a:solidFill>
          <a:ln w="12700">
            <a:solidFill>
              <a:srgbClr val="B19231"/>
            </a:solidFill>
            <a:prstDash val="solid"/>
          </a:ln>
        </p:spPr>
        <p:txBody>
          <a:bodyPr/>
          <a:lstStyle/>
          <a:p>
            <a:endParaRPr lang="en-US"/>
          </a:p>
        </p:txBody>
      </p:sp>
      <p:sp>
        <p:nvSpPr>
          <p:cNvPr id="31" name="Text 29"/>
          <p:cNvSpPr/>
          <p:nvPr/>
        </p:nvSpPr>
        <p:spPr>
          <a:xfrm>
            <a:off x="274320" y="4782312"/>
            <a:ext cx="8595360" cy="274320"/>
          </a:xfrm>
          <a:prstGeom prst="rect">
            <a:avLst/>
          </a:prstGeom>
          <a:noFill/>
          <a:ln/>
        </p:spPr>
        <p:txBody>
          <a:bodyPr wrap="square" rtlCol="0" anchor="ctr"/>
          <a:lstStyle/>
          <a:p>
            <a:pPr algn="ctr"/>
            <a:r>
              <a:rPr lang="en-US" sz="950" b="1">
                <a:solidFill>
                  <a:srgbClr val="111B35"/>
                </a:solidFill>
                <a:latin typeface="Calibri" pitchFamily="34" charset="0"/>
                <a:ea typeface="Calibri" pitchFamily="34" charset="-122"/>
                <a:cs typeface="Calibri" pitchFamily="34" charset="-120"/>
              </a:rPr>
              <a:t>COMP 3250  |  Group 8  |  University of Windsor  |  2026</a:t>
            </a:r>
            <a:endParaRPr lang="en-US" sz="9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FE8"/>
        </a:solidFill>
        <a:effectLst/>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22345F"/>
          </a:solidFill>
          <a:ln w="12700">
            <a:solidFill>
              <a:srgbClr val="22345F"/>
            </a:solidFill>
            <a:prstDash val="solid"/>
          </a:ln>
        </p:spPr>
        <p:txBody>
          <a:bodyPr/>
          <a:lstStyle/>
          <a:p>
            <a:endParaRPr lang="en-US"/>
          </a:p>
        </p:txBody>
      </p:sp>
      <p:sp>
        <p:nvSpPr>
          <p:cNvPr id="3" name="Shape 1"/>
          <p:cNvSpPr/>
          <p:nvPr/>
        </p:nvSpPr>
        <p:spPr>
          <a:xfrm>
            <a:off x="0" y="603504"/>
            <a:ext cx="9144000" cy="54864"/>
          </a:xfrm>
          <a:prstGeom prst="rect">
            <a:avLst/>
          </a:prstGeom>
          <a:solidFill>
            <a:srgbClr val="B19231"/>
          </a:solidFill>
          <a:ln w="12700">
            <a:solidFill>
              <a:srgbClr val="B19231"/>
            </a:solidFill>
            <a:prstDash val="solid"/>
          </a:ln>
        </p:spPr>
        <p:txBody>
          <a:bodyPr/>
          <a:lstStyle/>
          <a:p>
            <a:endParaRPr lang="en-US"/>
          </a:p>
        </p:txBody>
      </p:sp>
      <p:sp>
        <p:nvSpPr>
          <p:cNvPr id="4" name="Shape 2"/>
          <p:cNvSpPr/>
          <p:nvPr/>
        </p:nvSpPr>
        <p:spPr>
          <a:xfrm>
            <a:off x="0" y="4754880"/>
            <a:ext cx="9144000" cy="388620"/>
          </a:xfrm>
          <a:prstGeom prst="rect">
            <a:avLst/>
          </a:prstGeom>
          <a:solidFill>
            <a:srgbClr val="B19231"/>
          </a:solidFill>
          <a:ln w="12700">
            <a:solidFill>
              <a:srgbClr val="B19231"/>
            </a:solidFill>
            <a:prstDash val="solid"/>
          </a:ln>
        </p:spPr>
        <p:txBody>
          <a:bodyPr/>
          <a:lstStyle/>
          <a:p>
            <a:endParaRPr lang="en-US"/>
          </a:p>
        </p:txBody>
      </p:sp>
      <p:sp>
        <p:nvSpPr>
          <p:cNvPr id="5" name="Text 3"/>
          <p:cNvSpPr/>
          <p:nvPr/>
        </p:nvSpPr>
        <p:spPr>
          <a:xfrm>
            <a:off x="320040" y="54864"/>
            <a:ext cx="8503920" cy="493776"/>
          </a:xfrm>
          <a:prstGeom prst="rect">
            <a:avLst/>
          </a:prstGeom>
          <a:noFill/>
          <a:ln/>
        </p:spPr>
        <p:txBody>
          <a:bodyPr wrap="square" lIns="0" tIns="0" rIns="0" bIns="0" rtlCol="0" anchor="ctr"/>
          <a:lstStyle/>
          <a:p>
            <a:pPr marL="0" indent="0" algn="l">
              <a:buNone/>
            </a:pPr>
            <a:r>
              <a:rPr lang="en-US" sz="2100" b="1">
                <a:solidFill>
                  <a:srgbClr val="FFFFFF"/>
                </a:solidFill>
                <a:latin typeface="Calibri" pitchFamily="34" charset="0"/>
                <a:ea typeface="Calibri" pitchFamily="34" charset="-122"/>
                <a:cs typeface="Calibri" pitchFamily="34" charset="-120"/>
              </a:rPr>
              <a:t>References</a:t>
            </a:r>
            <a:endParaRPr lang="en-US" sz="2100"/>
          </a:p>
        </p:txBody>
      </p:sp>
      <p:sp>
        <p:nvSpPr>
          <p:cNvPr id="6" name="Text 4"/>
          <p:cNvSpPr/>
          <p:nvPr/>
        </p:nvSpPr>
        <p:spPr>
          <a:xfrm>
            <a:off x="274320" y="4782312"/>
            <a:ext cx="8595360" cy="274320"/>
          </a:xfrm>
          <a:prstGeom prst="rect">
            <a:avLst/>
          </a:prstGeom>
          <a:noFill/>
          <a:ln/>
        </p:spPr>
        <p:txBody>
          <a:bodyPr wrap="square" rtlCol="0" anchor="ctr"/>
          <a:lstStyle/>
          <a:p>
            <a:pPr algn="ctr"/>
            <a:r>
              <a:rPr lang="en-US" sz="950" b="1">
                <a:solidFill>
                  <a:srgbClr val="111B35"/>
                </a:solidFill>
                <a:latin typeface="Calibri" pitchFamily="34" charset="0"/>
                <a:ea typeface="Calibri" pitchFamily="34" charset="-122"/>
                <a:cs typeface="Calibri" pitchFamily="34" charset="-120"/>
              </a:rPr>
              <a:t>Thank you! Questions? | COMP 3250  |  Group 8  |  University of Windsor  |  2026</a:t>
            </a:r>
            <a:endParaRPr lang="en-US" sz="950"/>
          </a:p>
        </p:txBody>
      </p:sp>
      <p:sp>
        <p:nvSpPr>
          <p:cNvPr id="7" name="Shape 5"/>
          <p:cNvSpPr/>
          <p:nvPr/>
        </p:nvSpPr>
        <p:spPr>
          <a:xfrm>
            <a:off x="256032" y="804672"/>
            <a:ext cx="4169664" cy="566928"/>
          </a:xfrm>
          <a:prstGeom prst="rect">
            <a:avLst/>
          </a:prstGeom>
          <a:solidFill>
            <a:srgbClr val="FFFFFF"/>
          </a:solidFill>
          <a:ln w="12700">
            <a:solidFill>
              <a:srgbClr val="D0D5E0"/>
            </a:solidFill>
            <a:prstDash val="solid"/>
          </a:ln>
        </p:spPr>
        <p:txBody>
          <a:bodyPr/>
          <a:lstStyle/>
          <a:p>
            <a:endParaRPr lang="en-US"/>
          </a:p>
        </p:txBody>
      </p:sp>
      <p:sp>
        <p:nvSpPr>
          <p:cNvPr id="8" name="Shape 6"/>
          <p:cNvSpPr/>
          <p:nvPr/>
        </p:nvSpPr>
        <p:spPr>
          <a:xfrm>
            <a:off x="256032" y="804672"/>
            <a:ext cx="45720" cy="566928"/>
          </a:xfrm>
          <a:prstGeom prst="rect">
            <a:avLst/>
          </a:prstGeom>
          <a:solidFill>
            <a:srgbClr val="B19231"/>
          </a:solidFill>
          <a:ln w="12700">
            <a:solidFill>
              <a:srgbClr val="B19231"/>
            </a:solidFill>
            <a:prstDash val="solid"/>
          </a:ln>
        </p:spPr>
        <p:txBody>
          <a:bodyPr/>
          <a:lstStyle/>
          <a:p>
            <a:endParaRPr lang="en-US"/>
          </a:p>
        </p:txBody>
      </p:sp>
      <p:sp>
        <p:nvSpPr>
          <p:cNvPr id="9" name="Text 7"/>
          <p:cNvSpPr/>
          <p:nvPr/>
        </p:nvSpPr>
        <p:spPr>
          <a:xfrm>
            <a:off x="365760" y="841248"/>
            <a:ext cx="4005072" cy="493776"/>
          </a:xfrm>
          <a:prstGeom prst="rect">
            <a:avLst/>
          </a:prstGeom>
          <a:noFill/>
          <a:ln/>
        </p:spPr>
        <p:txBody>
          <a:bodyPr wrap="square" rtlCol="0" anchor="ctr"/>
          <a:lstStyle/>
          <a:p>
            <a:pPr marL="0" indent="0">
              <a:buNone/>
            </a:pPr>
            <a:r>
              <a:rPr lang="en-US" sz="950">
                <a:solidFill>
                  <a:srgbClr val="2C3E50"/>
                </a:solidFill>
                <a:latin typeface="Calibri" pitchFamily="34" charset="0"/>
                <a:ea typeface="Calibri" pitchFamily="34" charset="-122"/>
                <a:cs typeface="Calibri" pitchFamily="34" charset="-120"/>
              </a:rPr>
              <a:t>Baur, D. G., &amp; Lucey, B. M. (2010). Is gold a hedge or a safe haven? Financial Review, 45(2), 217-229.</a:t>
            </a:r>
            <a:endParaRPr lang="en-US" sz="950"/>
          </a:p>
        </p:txBody>
      </p:sp>
      <p:sp>
        <p:nvSpPr>
          <p:cNvPr id="10" name="Shape 8"/>
          <p:cNvSpPr/>
          <p:nvPr/>
        </p:nvSpPr>
        <p:spPr>
          <a:xfrm>
            <a:off x="256032" y="1453896"/>
            <a:ext cx="4169664" cy="566928"/>
          </a:xfrm>
          <a:prstGeom prst="rect">
            <a:avLst/>
          </a:prstGeom>
          <a:solidFill>
            <a:srgbClr val="FFFFFF"/>
          </a:solidFill>
          <a:ln w="12700">
            <a:solidFill>
              <a:srgbClr val="D0D5E0"/>
            </a:solidFill>
            <a:prstDash val="solid"/>
          </a:ln>
        </p:spPr>
        <p:txBody>
          <a:bodyPr/>
          <a:lstStyle/>
          <a:p>
            <a:endParaRPr lang="en-US"/>
          </a:p>
        </p:txBody>
      </p:sp>
      <p:sp>
        <p:nvSpPr>
          <p:cNvPr id="11" name="Shape 9"/>
          <p:cNvSpPr/>
          <p:nvPr/>
        </p:nvSpPr>
        <p:spPr>
          <a:xfrm>
            <a:off x="256032" y="1453896"/>
            <a:ext cx="45720" cy="566928"/>
          </a:xfrm>
          <a:prstGeom prst="rect">
            <a:avLst/>
          </a:prstGeom>
          <a:solidFill>
            <a:srgbClr val="B19231"/>
          </a:solidFill>
          <a:ln w="12700">
            <a:solidFill>
              <a:srgbClr val="B19231"/>
            </a:solidFill>
            <a:prstDash val="solid"/>
          </a:ln>
        </p:spPr>
        <p:txBody>
          <a:bodyPr/>
          <a:lstStyle/>
          <a:p>
            <a:endParaRPr lang="en-US"/>
          </a:p>
        </p:txBody>
      </p:sp>
      <p:sp>
        <p:nvSpPr>
          <p:cNvPr id="12" name="Text 10"/>
          <p:cNvSpPr/>
          <p:nvPr/>
        </p:nvSpPr>
        <p:spPr>
          <a:xfrm>
            <a:off x="365760" y="1490472"/>
            <a:ext cx="4005072" cy="493776"/>
          </a:xfrm>
          <a:prstGeom prst="rect">
            <a:avLst/>
          </a:prstGeom>
          <a:noFill/>
          <a:ln/>
        </p:spPr>
        <p:txBody>
          <a:bodyPr wrap="square" rtlCol="0" anchor="ctr"/>
          <a:lstStyle/>
          <a:p>
            <a:pPr marL="0" indent="0">
              <a:buNone/>
            </a:pPr>
            <a:r>
              <a:rPr lang="en-US" sz="950">
                <a:solidFill>
                  <a:srgbClr val="2C3E50"/>
                </a:solidFill>
                <a:latin typeface="Calibri" pitchFamily="34" charset="0"/>
                <a:ea typeface="Calibri" pitchFamily="34" charset="-122"/>
                <a:cs typeface="Calibri" pitchFamily="34" charset="-120"/>
              </a:rPr>
              <a:t>Federal Reserve. (2022). Federal Reserve monetary policy report. https://www.federalreserve.gov</a:t>
            </a:r>
            <a:endParaRPr lang="en-US" sz="950"/>
          </a:p>
        </p:txBody>
      </p:sp>
      <p:sp>
        <p:nvSpPr>
          <p:cNvPr id="13" name="Shape 11"/>
          <p:cNvSpPr/>
          <p:nvPr/>
        </p:nvSpPr>
        <p:spPr>
          <a:xfrm>
            <a:off x="256032" y="2103120"/>
            <a:ext cx="4169664" cy="566928"/>
          </a:xfrm>
          <a:prstGeom prst="rect">
            <a:avLst/>
          </a:prstGeom>
          <a:solidFill>
            <a:srgbClr val="FFFFFF"/>
          </a:solidFill>
          <a:ln w="12700">
            <a:solidFill>
              <a:srgbClr val="D0D5E0"/>
            </a:solidFill>
            <a:prstDash val="solid"/>
          </a:ln>
        </p:spPr>
        <p:txBody>
          <a:bodyPr/>
          <a:lstStyle/>
          <a:p>
            <a:endParaRPr lang="en-US"/>
          </a:p>
        </p:txBody>
      </p:sp>
      <p:sp>
        <p:nvSpPr>
          <p:cNvPr id="14" name="Shape 12"/>
          <p:cNvSpPr/>
          <p:nvPr/>
        </p:nvSpPr>
        <p:spPr>
          <a:xfrm>
            <a:off x="256032" y="2103120"/>
            <a:ext cx="45720" cy="566928"/>
          </a:xfrm>
          <a:prstGeom prst="rect">
            <a:avLst/>
          </a:prstGeom>
          <a:solidFill>
            <a:srgbClr val="B19231"/>
          </a:solidFill>
          <a:ln w="12700">
            <a:solidFill>
              <a:srgbClr val="B19231"/>
            </a:solidFill>
            <a:prstDash val="solid"/>
          </a:ln>
        </p:spPr>
        <p:txBody>
          <a:bodyPr/>
          <a:lstStyle/>
          <a:p>
            <a:endParaRPr lang="en-US"/>
          </a:p>
        </p:txBody>
      </p:sp>
      <p:sp>
        <p:nvSpPr>
          <p:cNvPr id="15" name="Text 13"/>
          <p:cNvSpPr/>
          <p:nvPr/>
        </p:nvSpPr>
        <p:spPr>
          <a:xfrm>
            <a:off x="365760" y="2139696"/>
            <a:ext cx="4005072" cy="493776"/>
          </a:xfrm>
          <a:prstGeom prst="rect">
            <a:avLst/>
          </a:prstGeom>
          <a:noFill/>
          <a:ln/>
        </p:spPr>
        <p:txBody>
          <a:bodyPr wrap="square" rtlCol="0" anchor="ctr"/>
          <a:lstStyle/>
          <a:p>
            <a:pPr marL="0" indent="0">
              <a:buNone/>
            </a:pPr>
            <a:r>
              <a:rPr lang="en-US" sz="950">
                <a:solidFill>
                  <a:srgbClr val="2C3E50"/>
                </a:solidFill>
                <a:latin typeface="Calibri" pitchFamily="34" charset="0"/>
                <a:ea typeface="Calibri" pitchFamily="34" charset="-122"/>
                <a:cs typeface="Calibri" pitchFamily="34" charset="-120"/>
              </a:rPr>
              <a:t>Hull, J. C. (2018). Options, futures, and other derivatives (10th ed.). Pearson.</a:t>
            </a:r>
            <a:endParaRPr lang="en-US" sz="950"/>
          </a:p>
        </p:txBody>
      </p:sp>
      <p:sp>
        <p:nvSpPr>
          <p:cNvPr id="16" name="Shape 14"/>
          <p:cNvSpPr/>
          <p:nvPr/>
        </p:nvSpPr>
        <p:spPr>
          <a:xfrm>
            <a:off x="256032" y="2752344"/>
            <a:ext cx="4169664" cy="566928"/>
          </a:xfrm>
          <a:prstGeom prst="rect">
            <a:avLst/>
          </a:prstGeom>
          <a:solidFill>
            <a:srgbClr val="FFFFFF"/>
          </a:solidFill>
          <a:ln w="12700">
            <a:solidFill>
              <a:srgbClr val="D0D5E0"/>
            </a:solidFill>
            <a:prstDash val="solid"/>
          </a:ln>
        </p:spPr>
        <p:txBody>
          <a:bodyPr/>
          <a:lstStyle/>
          <a:p>
            <a:endParaRPr lang="en-US"/>
          </a:p>
        </p:txBody>
      </p:sp>
      <p:sp>
        <p:nvSpPr>
          <p:cNvPr id="17" name="Shape 15"/>
          <p:cNvSpPr/>
          <p:nvPr/>
        </p:nvSpPr>
        <p:spPr>
          <a:xfrm>
            <a:off x="256032" y="2752344"/>
            <a:ext cx="45720" cy="566928"/>
          </a:xfrm>
          <a:prstGeom prst="rect">
            <a:avLst/>
          </a:prstGeom>
          <a:solidFill>
            <a:srgbClr val="B19231"/>
          </a:solidFill>
          <a:ln w="12700">
            <a:solidFill>
              <a:srgbClr val="B19231"/>
            </a:solidFill>
            <a:prstDash val="solid"/>
          </a:ln>
        </p:spPr>
        <p:txBody>
          <a:bodyPr/>
          <a:lstStyle/>
          <a:p>
            <a:endParaRPr lang="en-US"/>
          </a:p>
        </p:txBody>
      </p:sp>
      <p:sp>
        <p:nvSpPr>
          <p:cNvPr id="18" name="Text 16"/>
          <p:cNvSpPr/>
          <p:nvPr/>
        </p:nvSpPr>
        <p:spPr>
          <a:xfrm>
            <a:off x="365760" y="2788920"/>
            <a:ext cx="4005072" cy="493776"/>
          </a:xfrm>
          <a:prstGeom prst="rect">
            <a:avLst/>
          </a:prstGeom>
          <a:noFill/>
          <a:ln/>
        </p:spPr>
        <p:txBody>
          <a:bodyPr wrap="square" rtlCol="0" anchor="ctr"/>
          <a:lstStyle/>
          <a:p>
            <a:pPr marL="0" indent="0">
              <a:buNone/>
            </a:pPr>
            <a:r>
              <a:rPr lang="en-US" sz="950">
                <a:solidFill>
                  <a:srgbClr val="2C3E50"/>
                </a:solidFill>
                <a:latin typeface="Calibri" pitchFamily="34" charset="0"/>
                <a:ea typeface="Calibri" pitchFamily="34" charset="-122"/>
                <a:cs typeface="Calibri" pitchFamily="34" charset="-120"/>
              </a:rPr>
              <a:t>IMF. (2023). World economic outlook: A rocky recovery. https://www.imf.org</a:t>
            </a:r>
            <a:endParaRPr lang="en-US" sz="950"/>
          </a:p>
        </p:txBody>
      </p:sp>
      <p:sp>
        <p:nvSpPr>
          <p:cNvPr id="19" name="Shape 17"/>
          <p:cNvSpPr/>
          <p:nvPr/>
        </p:nvSpPr>
        <p:spPr>
          <a:xfrm>
            <a:off x="256032" y="3401568"/>
            <a:ext cx="4169664" cy="566928"/>
          </a:xfrm>
          <a:prstGeom prst="rect">
            <a:avLst/>
          </a:prstGeom>
          <a:solidFill>
            <a:srgbClr val="FFFFFF"/>
          </a:solidFill>
          <a:ln w="12700">
            <a:solidFill>
              <a:srgbClr val="D0D5E0"/>
            </a:solidFill>
            <a:prstDash val="solid"/>
          </a:ln>
        </p:spPr>
        <p:txBody>
          <a:bodyPr/>
          <a:lstStyle/>
          <a:p>
            <a:endParaRPr lang="en-US"/>
          </a:p>
        </p:txBody>
      </p:sp>
      <p:sp>
        <p:nvSpPr>
          <p:cNvPr id="20" name="Shape 18"/>
          <p:cNvSpPr/>
          <p:nvPr/>
        </p:nvSpPr>
        <p:spPr>
          <a:xfrm>
            <a:off x="256032" y="3401568"/>
            <a:ext cx="45720" cy="566928"/>
          </a:xfrm>
          <a:prstGeom prst="rect">
            <a:avLst/>
          </a:prstGeom>
          <a:solidFill>
            <a:srgbClr val="B19231"/>
          </a:solidFill>
          <a:ln w="12700">
            <a:solidFill>
              <a:srgbClr val="B19231"/>
            </a:solidFill>
            <a:prstDash val="solid"/>
          </a:ln>
        </p:spPr>
        <p:txBody>
          <a:bodyPr/>
          <a:lstStyle/>
          <a:p>
            <a:endParaRPr lang="en-US"/>
          </a:p>
        </p:txBody>
      </p:sp>
      <p:sp>
        <p:nvSpPr>
          <p:cNvPr id="21" name="Text 19"/>
          <p:cNvSpPr/>
          <p:nvPr/>
        </p:nvSpPr>
        <p:spPr>
          <a:xfrm>
            <a:off x="365760" y="3438144"/>
            <a:ext cx="4005072" cy="493776"/>
          </a:xfrm>
          <a:prstGeom prst="rect">
            <a:avLst/>
          </a:prstGeom>
          <a:noFill/>
          <a:ln/>
        </p:spPr>
        <p:txBody>
          <a:bodyPr wrap="square" rtlCol="0" anchor="ctr"/>
          <a:lstStyle/>
          <a:p>
            <a:pPr marL="0" indent="0">
              <a:buNone/>
            </a:pPr>
            <a:r>
              <a:rPr lang="en-US" sz="950">
                <a:solidFill>
                  <a:srgbClr val="2C3E50"/>
                </a:solidFill>
                <a:latin typeface="Calibri" pitchFamily="34" charset="0"/>
                <a:ea typeface="Calibri" pitchFamily="34" charset="-122"/>
                <a:cs typeface="Calibri" pitchFamily="34" charset="-120"/>
              </a:rPr>
              <a:t>IMF. (2024). World economic outlook update. https://www.imf.org</a:t>
            </a:r>
            <a:endParaRPr lang="en-US" sz="950"/>
          </a:p>
        </p:txBody>
      </p:sp>
      <p:sp>
        <p:nvSpPr>
          <p:cNvPr id="22" name="Shape 20"/>
          <p:cNvSpPr/>
          <p:nvPr/>
        </p:nvSpPr>
        <p:spPr>
          <a:xfrm>
            <a:off x="256032" y="4050792"/>
            <a:ext cx="4169664" cy="566928"/>
          </a:xfrm>
          <a:prstGeom prst="rect">
            <a:avLst/>
          </a:prstGeom>
          <a:solidFill>
            <a:srgbClr val="FFFFFF"/>
          </a:solidFill>
          <a:ln w="12700">
            <a:solidFill>
              <a:srgbClr val="D0D5E0"/>
            </a:solidFill>
            <a:prstDash val="solid"/>
          </a:ln>
        </p:spPr>
        <p:txBody>
          <a:bodyPr/>
          <a:lstStyle/>
          <a:p>
            <a:endParaRPr lang="en-US"/>
          </a:p>
        </p:txBody>
      </p:sp>
      <p:sp>
        <p:nvSpPr>
          <p:cNvPr id="23" name="Shape 21"/>
          <p:cNvSpPr/>
          <p:nvPr/>
        </p:nvSpPr>
        <p:spPr>
          <a:xfrm>
            <a:off x="256032" y="4050792"/>
            <a:ext cx="45720" cy="566928"/>
          </a:xfrm>
          <a:prstGeom prst="rect">
            <a:avLst/>
          </a:prstGeom>
          <a:solidFill>
            <a:srgbClr val="B19231"/>
          </a:solidFill>
          <a:ln w="12700">
            <a:solidFill>
              <a:srgbClr val="B19231"/>
            </a:solidFill>
            <a:prstDash val="solid"/>
          </a:ln>
        </p:spPr>
        <p:txBody>
          <a:bodyPr/>
          <a:lstStyle/>
          <a:p>
            <a:endParaRPr lang="en-US"/>
          </a:p>
        </p:txBody>
      </p:sp>
      <p:sp>
        <p:nvSpPr>
          <p:cNvPr id="24" name="Text 22"/>
          <p:cNvSpPr/>
          <p:nvPr/>
        </p:nvSpPr>
        <p:spPr>
          <a:xfrm>
            <a:off x="365760" y="4087368"/>
            <a:ext cx="4005072" cy="493776"/>
          </a:xfrm>
          <a:prstGeom prst="rect">
            <a:avLst/>
          </a:prstGeom>
          <a:noFill/>
          <a:ln/>
        </p:spPr>
        <p:txBody>
          <a:bodyPr wrap="square" rtlCol="0" anchor="ctr"/>
          <a:lstStyle/>
          <a:p>
            <a:pPr marL="0" indent="0">
              <a:buNone/>
            </a:pPr>
            <a:r>
              <a:rPr lang="en-US" sz="950">
                <a:solidFill>
                  <a:srgbClr val="2C3E50"/>
                </a:solidFill>
                <a:latin typeface="Calibri" pitchFamily="34" charset="0"/>
                <a:ea typeface="Calibri" pitchFamily="34" charset="-122"/>
                <a:cs typeface="Calibri" pitchFamily="34" charset="-120"/>
              </a:rPr>
              <a:t>Microsoft. (2025). Power BI documentation. https://learn.microsoft.com/power-bi</a:t>
            </a:r>
            <a:endParaRPr lang="en-US" sz="950"/>
          </a:p>
        </p:txBody>
      </p:sp>
      <p:sp>
        <p:nvSpPr>
          <p:cNvPr id="25" name="Shape 23"/>
          <p:cNvSpPr/>
          <p:nvPr/>
        </p:nvSpPr>
        <p:spPr>
          <a:xfrm>
            <a:off x="4700016" y="804672"/>
            <a:ext cx="4169664" cy="566928"/>
          </a:xfrm>
          <a:prstGeom prst="rect">
            <a:avLst/>
          </a:prstGeom>
          <a:solidFill>
            <a:srgbClr val="FFFFFF"/>
          </a:solidFill>
          <a:ln w="12700">
            <a:solidFill>
              <a:srgbClr val="D0D5E0"/>
            </a:solidFill>
            <a:prstDash val="solid"/>
          </a:ln>
        </p:spPr>
        <p:txBody>
          <a:bodyPr/>
          <a:lstStyle/>
          <a:p>
            <a:endParaRPr lang="en-US"/>
          </a:p>
        </p:txBody>
      </p:sp>
      <p:sp>
        <p:nvSpPr>
          <p:cNvPr id="26" name="Shape 24"/>
          <p:cNvSpPr/>
          <p:nvPr/>
        </p:nvSpPr>
        <p:spPr>
          <a:xfrm>
            <a:off x="4700016" y="804672"/>
            <a:ext cx="45720" cy="566928"/>
          </a:xfrm>
          <a:prstGeom prst="rect">
            <a:avLst/>
          </a:prstGeom>
          <a:solidFill>
            <a:srgbClr val="B19231"/>
          </a:solidFill>
          <a:ln w="12700">
            <a:solidFill>
              <a:srgbClr val="B19231"/>
            </a:solidFill>
            <a:prstDash val="solid"/>
          </a:ln>
        </p:spPr>
        <p:txBody>
          <a:bodyPr/>
          <a:lstStyle/>
          <a:p>
            <a:endParaRPr lang="en-US"/>
          </a:p>
        </p:txBody>
      </p:sp>
      <p:sp>
        <p:nvSpPr>
          <p:cNvPr id="27" name="Text 25"/>
          <p:cNvSpPr/>
          <p:nvPr/>
        </p:nvSpPr>
        <p:spPr>
          <a:xfrm>
            <a:off x="4809744" y="841248"/>
            <a:ext cx="4005072" cy="493776"/>
          </a:xfrm>
          <a:prstGeom prst="rect">
            <a:avLst/>
          </a:prstGeom>
          <a:noFill/>
          <a:ln/>
        </p:spPr>
        <p:txBody>
          <a:bodyPr wrap="square" rtlCol="0" anchor="ctr"/>
          <a:lstStyle/>
          <a:p>
            <a:pPr marL="0" indent="0">
              <a:buNone/>
            </a:pPr>
            <a:r>
              <a:rPr lang="en-US" sz="950">
                <a:solidFill>
                  <a:srgbClr val="2C3E50"/>
                </a:solidFill>
                <a:latin typeface="Calibri" pitchFamily="34" charset="0"/>
                <a:ea typeface="Calibri" pitchFamily="34" charset="-122"/>
                <a:cs typeface="Calibri" pitchFamily="34" charset="-120"/>
              </a:rPr>
              <a:t>Murphy, J. J. (1999). Technical analysis of the financial markets. New York Institute of Finance.</a:t>
            </a:r>
            <a:endParaRPr lang="en-US" sz="950"/>
          </a:p>
        </p:txBody>
      </p:sp>
      <p:sp>
        <p:nvSpPr>
          <p:cNvPr id="28" name="Shape 26"/>
          <p:cNvSpPr/>
          <p:nvPr/>
        </p:nvSpPr>
        <p:spPr>
          <a:xfrm>
            <a:off x="4700016" y="1453896"/>
            <a:ext cx="4169664" cy="566928"/>
          </a:xfrm>
          <a:prstGeom prst="rect">
            <a:avLst/>
          </a:prstGeom>
          <a:solidFill>
            <a:srgbClr val="FFFFFF"/>
          </a:solidFill>
          <a:ln w="12700">
            <a:solidFill>
              <a:srgbClr val="D0D5E0"/>
            </a:solidFill>
            <a:prstDash val="solid"/>
          </a:ln>
        </p:spPr>
        <p:txBody>
          <a:bodyPr/>
          <a:lstStyle/>
          <a:p>
            <a:endParaRPr lang="en-US"/>
          </a:p>
        </p:txBody>
      </p:sp>
      <p:sp>
        <p:nvSpPr>
          <p:cNvPr id="29" name="Shape 27"/>
          <p:cNvSpPr/>
          <p:nvPr/>
        </p:nvSpPr>
        <p:spPr>
          <a:xfrm>
            <a:off x="4700016" y="1453896"/>
            <a:ext cx="45720" cy="566928"/>
          </a:xfrm>
          <a:prstGeom prst="rect">
            <a:avLst/>
          </a:prstGeom>
          <a:solidFill>
            <a:srgbClr val="B19231"/>
          </a:solidFill>
          <a:ln w="12700">
            <a:solidFill>
              <a:srgbClr val="B19231"/>
            </a:solidFill>
            <a:prstDash val="solid"/>
          </a:ln>
        </p:spPr>
        <p:txBody>
          <a:bodyPr/>
          <a:lstStyle/>
          <a:p>
            <a:endParaRPr lang="en-US"/>
          </a:p>
        </p:txBody>
      </p:sp>
      <p:sp>
        <p:nvSpPr>
          <p:cNvPr id="30" name="Text 28"/>
          <p:cNvSpPr/>
          <p:nvPr/>
        </p:nvSpPr>
        <p:spPr>
          <a:xfrm>
            <a:off x="4809744" y="1490472"/>
            <a:ext cx="4005072" cy="493776"/>
          </a:xfrm>
          <a:prstGeom prst="rect">
            <a:avLst/>
          </a:prstGeom>
          <a:noFill/>
          <a:ln/>
        </p:spPr>
        <p:txBody>
          <a:bodyPr wrap="square" rtlCol="0" anchor="ctr"/>
          <a:lstStyle/>
          <a:p>
            <a:pPr marL="0" indent="0">
              <a:buNone/>
            </a:pPr>
            <a:r>
              <a:rPr lang="en-US" sz="950">
                <a:solidFill>
                  <a:srgbClr val="2C3E50"/>
                </a:solidFill>
                <a:latin typeface="Calibri" pitchFamily="34" charset="0"/>
                <a:ea typeface="Calibri" pitchFamily="34" charset="-122"/>
                <a:cs typeface="Calibri" pitchFamily="34" charset="-120"/>
              </a:rPr>
              <a:t>Sharda, R., Delen, D., &amp; Turban, E. (2020). Analytics, data science, and artificial intelligence (11th ed.). Pearson.</a:t>
            </a:r>
            <a:endParaRPr lang="en-US" sz="950"/>
          </a:p>
        </p:txBody>
      </p:sp>
      <p:sp>
        <p:nvSpPr>
          <p:cNvPr id="31" name="Shape 29"/>
          <p:cNvSpPr/>
          <p:nvPr/>
        </p:nvSpPr>
        <p:spPr>
          <a:xfrm>
            <a:off x="4700016" y="2103120"/>
            <a:ext cx="4169664" cy="566928"/>
          </a:xfrm>
          <a:prstGeom prst="rect">
            <a:avLst/>
          </a:prstGeom>
          <a:solidFill>
            <a:srgbClr val="FFFFFF"/>
          </a:solidFill>
          <a:ln w="12700">
            <a:solidFill>
              <a:srgbClr val="D0D5E0"/>
            </a:solidFill>
            <a:prstDash val="solid"/>
          </a:ln>
        </p:spPr>
        <p:txBody>
          <a:bodyPr/>
          <a:lstStyle/>
          <a:p>
            <a:endParaRPr lang="en-US"/>
          </a:p>
        </p:txBody>
      </p:sp>
      <p:sp>
        <p:nvSpPr>
          <p:cNvPr id="32" name="Shape 30"/>
          <p:cNvSpPr/>
          <p:nvPr/>
        </p:nvSpPr>
        <p:spPr>
          <a:xfrm>
            <a:off x="4700016" y="2103120"/>
            <a:ext cx="45720" cy="566928"/>
          </a:xfrm>
          <a:prstGeom prst="rect">
            <a:avLst/>
          </a:prstGeom>
          <a:solidFill>
            <a:srgbClr val="B19231"/>
          </a:solidFill>
          <a:ln w="12700">
            <a:solidFill>
              <a:srgbClr val="B19231"/>
            </a:solidFill>
            <a:prstDash val="solid"/>
          </a:ln>
        </p:spPr>
        <p:txBody>
          <a:bodyPr/>
          <a:lstStyle/>
          <a:p>
            <a:endParaRPr lang="en-US"/>
          </a:p>
        </p:txBody>
      </p:sp>
      <p:sp>
        <p:nvSpPr>
          <p:cNvPr id="33" name="Text 31"/>
          <p:cNvSpPr/>
          <p:nvPr/>
        </p:nvSpPr>
        <p:spPr>
          <a:xfrm>
            <a:off x="4809744" y="2139696"/>
            <a:ext cx="4005072" cy="493776"/>
          </a:xfrm>
          <a:prstGeom prst="rect">
            <a:avLst/>
          </a:prstGeom>
          <a:noFill/>
          <a:ln/>
        </p:spPr>
        <p:txBody>
          <a:bodyPr wrap="square" rtlCol="0" anchor="ctr"/>
          <a:lstStyle/>
          <a:p>
            <a:pPr marL="0" indent="0">
              <a:buNone/>
            </a:pPr>
            <a:r>
              <a:rPr lang="en-US" sz="950">
                <a:solidFill>
                  <a:srgbClr val="2C3E50"/>
                </a:solidFill>
                <a:latin typeface="Calibri" pitchFamily="34" charset="0"/>
                <a:ea typeface="Calibri" pitchFamily="34" charset="-122"/>
                <a:cs typeface="Calibri" pitchFamily="34" charset="-120"/>
              </a:rPr>
              <a:t>World Bank. (2020). Commodity markets outlook. https://www.worldbank.org</a:t>
            </a:r>
            <a:endParaRPr lang="en-US" sz="950"/>
          </a:p>
        </p:txBody>
      </p:sp>
      <p:sp>
        <p:nvSpPr>
          <p:cNvPr id="34" name="Shape 32"/>
          <p:cNvSpPr/>
          <p:nvPr/>
        </p:nvSpPr>
        <p:spPr>
          <a:xfrm>
            <a:off x="4700016" y="2752344"/>
            <a:ext cx="4169664" cy="566928"/>
          </a:xfrm>
          <a:prstGeom prst="rect">
            <a:avLst/>
          </a:prstGeom>
          <a:solidFill>
            <a:srgbClr val="FFFFFF"/>
          </a:solidFill>
          <a:ln w="12700">
            <a:solidFill>
              <a:srgbClr val="D0D5E0"/>
            </a:solidFill>
            <a:prstDash val="solid"/>
          </a:ln>
        </p:spPr>
        <p:txBody>
          <a:bodyPr/>
          <a:lstStyle/>
          <a:p>
            <a:endParaRPr lang="en-US"/>
          </a:p>
        </p:txBody>
      </p:sp>
      <p:sp>
        <p:nvSpPr>
          <p:cNvPr id="35" name="Shape 33"/>
          <p:cNvSpPr/>
          <p:nvPr/>
        </p:nvSpPr>
        <p:spPr>
          <a:xfrm>
            <a:off x="4700016" y="2752344"/>
            <a:ext cx="45720" cy="566928"/>
          </a:xfrm>
          <a:prstGeom prst="rect">
            <a:avLst/>
          </a:prstGeom>
          <a:solidFill>
            <a:srgbClr val="B19231"/>
          </a:solidFill>
          <a:ln w="12700">
            <a:solidFill>
              <a:srgbClr val="B19231"/>
            </a:solidFill>
            <a:prstDash val="solid"/>
          </a:ln>
        </p:spPr>
        <p:txBody>
          <a:bodyPr/>
          <a:lstStyle/>
          <a:p>
            <a:endParaRPr lang="en-US"/>
          </a:p>
        </p:txBody>
      </p:sp>
      <p:sp>
        <p:nvSpPr>
          <p:cNvPr id="36" name="Text 34"/>
          <p:cNvSpPr/>
          <p:nvPr/>
        </p:nvSpPr>
        <p:spPr>
          <a:xfrm>
            <a:off x="4809744" y="2788920"/>
            <a:ext cx="4005072" cy="493776"/>
          </a:xfrm>
          <a:prstGeom prst="rect">
            <a:avLst/>
          </a:prstGeom>
          <a:noFill/>
          <a:ln/>
        </p:spPr>
        <p:txBody>
          <a:bodyPr wrap="square" rtlCol="0" anchor="ctr"/>
          <a:lstStyle/>
          <a:p>
            <a:pPr marL="0" indent="0">
              <a:buNone/>
            </a:pPr>
            <a:r>
              <a:rPr lang="en-US" sz="950">
                <a:solidFill>
                  <a:srgbClr val="2C3E50"/>
                </a:solidFill>
                <a:latin typeface="Calibri" pitchFamily="34" charset="0"/>
                <a:ea typeface="Calibri" pitchFamily="34" charset="-122"/>
                <a:cs typeface="Calibri" pitchFamily="34" charset="-120"/>
              </a:rPr>
              <a:t>World Gold Council. (2021). Gold demand trends. https://www.gold.org</a:t>
            </a:r>
            <a:endParaRPr lang="en-US" sz="950"/>
          </a:p>
        </p:txBody>
      </p:sp>
      <p:sp>
        <p:nvSpPr>
          <p:cNvPr id="37" name="Shape 35"/>
          <p:cNvSpPr/>
          <p:nvPr/>
        </p:nvSpPr>
        <p:spPr>
          <a:xfrm>
            <a:off x="4700016" y="3401568"/>
            <a:ext cx="4169664" cy="566928"/>
          </a:xfrm>
          <a:prstGeom prst="rect">
            <a:avLst/>
          </a:prstGeom>
          <a:solidFill>
            <a:srgbClr val="FFFFFF"/>
          </a:solidFill>
          <a:ln w="12700">
            <a:solidFill>
              <a:srgbClr val="D0D5E0"/>
            </a:solidFill>
            <a:prstDash val="solid"/>
          </a:ln>
        </p:spPr>
        <p:txBody>
          <a:bodyPr/>
          <a:lstStyle/>
          <a:p>
            <a:endParaRPr lang="en-US"/>
          </a:p>
        </p:txBody>
      </p:sp>
      <p:sp>
        <p:nvSpPr>
          <p:cNvPr id="38" name="Shape 36"/>
          <p:cNvSpPr/>
          <p:nvPr/>
        </p:nvSpPr>
        <p:spPr>
          <a:xfrm>
            <a:off x="4700016" y="3401568"/>
            <a:ext cx="45720" cy="566928"/>
          </a:xfrm>
          <a:prstGeom prst="rect">
            <a:avLst/>
          </a:prstGeom>
          <a:solidFill>
            <a:srgbClr val="B19231"/>
          </a:solidFill>
          <a:ln w="12700">
            <a:solidFill>
              <a:srgbClr val="B19231"/>
            </a:solidFill>
            <a:prstDash val="solid"/>
          </a:ln>
        </p:spPr>
        <p:txBody>
          <a:bodyPr/>
          <a:lstStyle/>
          <a:p>
            <a:endParaRPr lang="en-US"/>
          </a:p>
        </p:txBody>
      </p:sp>
      <p:sp>
        <p:nvSpPr>
          <p:cNvPr id="39" name="Text 37"/>
          <p:cNvSpPr/>
          <p:nvPr/>
        </p:nvSpPr>
        <p:spPr>
          <a:xfrm>
            <a:off x="4809744" y="3438144"/>
            <a:ext cx="4005072" cy="493776"/>
          </a:xfrm>
          <a:prstGeom prst="rect">
            <a:avLst/>
          </a:prstGeom>
          <a:noFill/>
          <a:ln/>
        </p:spPr>
        <p:txBody>
          <a:bodyPr wrap="square" rtlCol="0" anchor="ctr"/>
          <a:lstStyle/>
          <a:p>
            <a:pPr marL="0" indent="0">
              <a:buNone/>
            </a:pPr>
            <a:r>
              <a:rPr lang="en-US" sz="950">
                <a:solidFill>
                  <a:srgbClr val="2C3E50"/>
                </a:solidFill>
                <a:latin typeface="Calibri" pitchFamily="34" charset="0"/>
                <a:ea typeface="Calibri" pitchFamily="34" charset="-122"/>
                <a:cs typeface="Calibri" pitchFamily="34" charset="-120"/>
              </a:rPr>
              <a:t>World Gold Council. (2023). Gold market outlook. https://www.gold.org</a:t>
            </a:r>
            <a:endParaRPr lang="en-US" sz="950"/>
          </a:p>
        </p:txBody>
      </p:sp>
      <p:sp>
        <p:nvSpPr>
          <p:cNvPr id="40" name="Shape 38"/>
          <p:cNvSpPr/>
          <p:nvPr/>
        </p:nvSpPr>
        <p:spPr>
          <a:xfrm>
            <a:off x="4700016" y="4050792"/>
            <a:ext cx="4169664" cy="566928"/>
          </a:xfrm>
          <a:prstGeom prst="rect">
            <a:avLst/>
          </a:prstGeom>
          <a:solidFill>
            <a:srgbClr val="FFFFFF"/>
          </a:solidFill>
          <a:ln w="12700">
            <a:solidFill>
              <a:srgbClr val="D0D5E0"/>
            </a:solidFill>
            <a:prstDash val="solid"/>
          </a:ln>
        </p:spPr>
        <p:txBody>
          <a:bodyPr/>
          <a:lstStyle/>
          <a:p>
            <a:endParaRPr lang="en-US"/>
          </a:p>
        </p:txBody>
      </p:sp>
      <p:sp>
        <p:nvSpPr>
          <p:cNvPr id="41" name="Shape 39"/>
          <p:cNvSpPr/>
          <p:nvPr/>
        </p:nvSpPr>
        <p:spPr>
          <a:xfrm>
            <a:off x="4700016" y="4050792"/>
            <a:ext cx="45720" cy="566928"/>
          </a:xfrm>
          <a:prstGeom prst="rect">
            <a:avLst/>
          </a:prstGeom>
          <a:solidFill>
            <a:srgbClr val="B19231"/>
          </a:solidFill>
          <a:ln w="12700">
            <a:solidFill>
              <a:srgbClr val="B19231"/>
            </a:solidFill>
            <a:prstDash val="solid"/>
          </a:ln>
        </p:spPr>
        <p:txBody>
          <a:bodyPr/>
          <a:lstStyle/>
          <a:p>
            <a:endParaRPr lang="en-US"/>
          </a:p>
        </p:txBody>
      </p:sp>
      <p:sp>
        <p:nvSpPr>
          <p:cNvPr id="42" name="Text 40"/>
          <p:cNvSpPr/>
          <p:nvPr/>
        </p:nvSpPr>
        <p:spPr>
          <a:xfrm>
            <a:off x="4809744" y="4087368"/>
            <a:ext cx="4005072" cy="493776"/>
          </a:xfrm>
          <a:prstGeom prst="rect">
            <a:avLst/>
          </a:prstGeom>
          <a:noFill/>
          <a:ln/>
        </p:spPr>
        <p:txBody>
          <a:bodyPr wrap="square" rtlCol="0" anchor="ctr"/>
          <a:lstStyle/>
          <a:p>
            <a:pPr marL="0" indent="0">
              <a:buNone/>
            </a:pPr>
            <a:r>
              <a:rPr lang="en-US" sz="950">
                <a:solidFill>
                  <a:srgbClr val="2C3E50"/>
                </a:solidFill>
                <a:latin typeface="Calibri" pitchFamily="34" charset="0"/>
                <a:ea typeface="Calibri" pitchFamily="34" charset="-122"/>
                <a:cs typeface="Calibri" pitchFamily="34" charset="-120"/>
              </a:rPr>
              <a:t>World Gold Council. (2024). Gold demand trends. https://www.gold.org</a:t>
            </a:r>
            <a:endParaRPr lang="en-US" sz="9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7</Slides>
  <Notes>7</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9</cp:revision>
  <dcterms:created xsi:type="dcterms:W3CDTF">2026-03-30T00:29:58Z</dcterms:created>
  <dcterms:modified xsi:type="dcterms:W3CDTF">2026-03-30T02:58:07Z</dcterms:modified>
</cp:coreProperties>
</file>